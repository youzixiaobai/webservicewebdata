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0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70.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handoutMasterIdLst>
    <p:handoutMasterId r:id="rId25"/>
  </p:handout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4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4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 everyone. Today, I'll be presenting a technical deep dive into the Book Library and Analytics API. This project represents a robust, scalable, and easy-to-use RESTful backend service designed for managing a book catalog and providing insightful analytics. We'll explore its architecture, key features, and the rationale behind our technical choices.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Here's the roadmap for today's presentation. We'll start with an overview of the project, then dive into the system architecture and technology stack. We'll cover the data model, core API endpoints, security, and operations. Finally, we'll discuss testing, lessons learned, future improvements, and a reflection on our use of generative AI.</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goal of this project was to build a robust, scalable, and easy-to-use RESTful API. Its core functionalities are threefold: first, complete CRUD operations for managing the book catalog; second, an analytics interface that provides real-time statistics by genre; and third, essential service management features like health checks and interactive documentation.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adopted a classic three-tier architecture for this project. The client, or presentation layer, interacts with the application layer via HTTP.</a:t>
            </a:r>
            <a:endParaRPr lang="en-US" sz="1400" b="0" i="0" u="none" strike="noStrike">
              <a:solidFill>
                <a:srgbClr val="000000"/>
              </a:solidFill>
            </a:endParaRPr>
          </a:p>
          <a:p>
            <a:pPr indent="0" algn="l">
              <a:lnSpc>
                <a:spcPct val="100000"/>
              </a:lnSpc>
            </a:pPr>
            <a:r>
              <a:rPr lang="en-US" sz="1400" b="0" i="0" u="none" strike="noStrike">
                <a:solidFill>
                  <a:srgbClr val="000000"/>
                </a:solidFill>
              </a:rPr>
              <a:t>The application layer, built with FastAPI, handles all the business logic, routing, and validation. It's the brain of the system.</a:t>
            </a:r>
            <a:endParaRPr lang="en-US" sz="1400" b="0" i="0" u="none" strike="noStrike">
              <a:solidFill>
                <a:srgbClr val="000000"/>
              </a:solidFill>
            </a:endParaRPr>
          </a:p>
          <a:p>
            <a:pPr indent="0" algn="l">
              <a:lnSpc>
                <a:spcPct val="100000"/>
              </a:lnSpc>
            </a:pPr>
            <a:r>
              <a:rPr lang="en-US" sz="1400" b="0" i="0" u="none" strike="noStrike">
                <a:solidFill>
                  <a:srgbClr val="000000"/>
                </a:solidFill>
              </a:rPr>
              <a:t>Finally, the persistence layer, using SQLAlchemy, manages the database interactions. This modular structure ensures separation of concerns and high maintainability, making it easy to update or replace individual components as needed.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Several key design principles guided our development. We strictly followed separation of concerns, decoupled modules for maintainability, embraced an OpenAPI-first design to keep documentation in sync, and enforced validation at the API boundary using Pydantic. These principles ensure the codebase is robust, maintainable, and consistent.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technology stack was chosen for its synergy and ability to accelerate development. We used Python with FastAPI for its speed and automatic documentation features. For persistence, SQLAlchemy provides a powerful ORM, paired with SQLite for easy development. Finally, Uvicorn serves the application efficiently, and Pydantic ensures all data is valid.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heart of our data model is the  books  table. It's a simple, flat structure designed for ease of use and CRUD operations.</a:t>
            </a:r>
            <a:endParaRPr lang="en-US" sz="1400" b="0" i="0" u="none" strike="noStrike">
              <a:solidFill>
                <a:srgbClr val="000000"/>
              </a:solidFill>
            </a:endParaRPr>
          </a:p>
          <a:p>
            <a:pPr indent="0" algn="l">
              <a:lnSpc>
                <a:spcPct val="100000"/>
              </a:lnSpc>
            </a:pPr>
            <a:r>
              <a:rPr lang="en-US" sz="1400" b="0" i="0" u="none" strike="noStrike">
                <a:solidFill>
                  <a:srgbClr val="000000"/>
                </a:solidFill>
              </a:rPr>
              <a:t>We've included essential fields like title, author, and genre, all of which are indexed for performance. Optional fields like publication year and rating provide flexibility.</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single-table design is a deliberate trade-off for simplicity, especially for CSV imports.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Two key considerations shaped our data model. First, we enforce strict validation at the API boundary using Pydantic, ensuring only valid data enters the system. Second, we follow RESTful design principles, using the primary key in resource paths and maintaining a stable sort order for list endpoints. These choices ensure data integrity and a predictable API contract.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chose REST over GraphQL for this project. Given the simple nature of the  books  resource and the read-only analytics, REST provides the right balance of simplicity and functionality. It allows us to fully leverage FastAPI's automatic documentation features. We also adhere to standard HTTP semantics, using appropriate status codes to make the API intuitive and easy to use.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CRUD endpoints provide full control over the book catalog. You can list books with pagination and filtering, retrieve a single book by ID, create new books, and update or delete existing ones. Mutating operations like create, update, and delete are protected by API key authentication, which we'll discuss later.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Beyond CRUD, we offer two additional key endpoints. The analytics summary endpoint provides valuable, real-time statistics grouped by genre, which is great for gaining insights into the catalog. The health check endpoint is a simple, lightweight probe that's crucial for monitoring the service's status in production environments.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One of the biggest advantages of using FastAPI is its automatic OpenAPI documentation. This means our API documentation is always up-to-date with the code.</a:t>
            </a:r>
            <a:endParaRPr lang="en-US" sz="1400" b="0" i="0" u="none" strike="noStrike">
              <a:solidFill>
                <a:srgbClr val="000000"/>
              </a:solidFill>
            </a:endParaRPr>
          </a:p>
          <a:p>
            <a:pPr indent="0" algn="l">
              <a:lnSpc>
                <a:spcPct val="100000"/>
              </a:lnSpc>
            </a:pPr>
            <a:r>
              <a:rPr lang="en-US" sz="1400" b="0" i="0" u="none" strike="noStrike">
                <a:solidFill>
                  <a:srgbClr val="000000"/>
                </a:solidFill>
              </a:rPr>
              <a:t>Developers can use the interactive Swagger UI to explore the API, send test requests, and see exactly what responses to expect.</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drastically improves the developer experience and reduces the overhead of maintaining separate documentation.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Security and configuration are handled robustly. We use a simple API key authentication scheme for write operations, which can be disabled for development. All configuration, including the database URL and API key, is managed through environment variables and a  .env  file, keeping sensitive information secure and out of version control.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For bulk data loading, we provide a CSV import script. A key design feature is that this script reuses the exact same validation and CRUD logic as the API itself. This means that whether data is added one by one via the API or in bulk via the script, it undergoes the same rigorous validation, guaranteeing data integrity.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Deploying the service is straightforward. For local development, we use Uvicorn's hot-reloading feature for a productive workflow. For production, we provide clear guidelines, such as using a process manager like Gunicorn, a robust database like PostgreSQL, and implementing proper observability practices.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take testing seriously. Our test suite, built with pytest, covers all core functionalities, including the full CRUD cycle, authentication, and request validation.</a:t>
            </a:r>
            <a:endParaRPr lang="en-US" sz="1400" b="0" i="0" u="none" strike="noStrike">
              <a:solidFill>
                <a:srgbClr val="000000"/>
              </a:solidFill>
            </a:endParaRPr>
          </a:p>
          <a:p>
            <a:pPr indent="0" algn="l">
              <a:lnSpc>
                <a:spcPct val="100000"/>
              </a:lnSpc>
            </a:pPr>
            <a:r>
              <a:rPr lang="en-US" sz="1400" b="0" i="0" u="none" strike="noStrike">
                <a:solidFill>
                  <a:srgbClr val="000000"/>
                </a:solidFill>
              </a:rPr>
              <a:t>We use an in-memory SQLite database and FastAPI's dependency override mechanism to ensure each test is isolated and reliable.</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comprehensive approach gives us confidence in the code's quality.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Throughout this project, we learned several valuable lessons. First, centralizing business logic in the CRUD module was key to maintaining consistency.</a:t>
            </a:r>
            <a:endParaRPr lang="en-US" sz="1400" b="0" i="0" u="none" strike="noStrike">
              <a:solidFill>
                <a:srgbClr val="000000"/>
              </a:solidFill>
            </a:endParaRPr>
          </a:p>
          <a:p>
            <a:pPr indent="0" algn="l">
              <a:lnSpc>
                <a:spcPct val="100000"/>
              </a:lnSpc>
            </a:pPr>
            <a:r>
              <a:rPr lang="en-US" sz="1400" b="0" i="0" u="none" strike="noStrike">
                <a:solidFill>
                  <a:srgbClr val="000000"/>
                </a:solidFill>
              </a:rPr>
              <a:t>Second, embracing OpenAPI as the source of truth saved us time and ensured accuracy.</a:t>
            </a:r>
            <a:endParaRPr lang="en-US" sz="1400" b="0" i="0" u="none" strike="noStrike">
              <a:solidFill>
                <a:srgbClr val="000000"/>
              </a:solidFill>
            </a:endParaRPr>
          </a:p>
          <a:p>
            <a:pPr indent="0" algn="l">
              <a:lnSpc>
                <a:spcPct val="100000"/>
              </a:lnSpc>
            </a:pPr>
            <a:r>
              <a:rPr lang="en-US" sz="1400" b="0" i="0" u="none" strike="noStrike">
                <a:solidFill>
                  <a:srgbClr val="000000"/>
                </a:solidFill>
              </a:rPr>
              <a:t>And third, leveraging FastAPI's built-in features for testing made our QA process much more efficient.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While the current implementation is solid, it has limitations. For example, the single API key isn't suitable for multi-tenant use, and SQLite has concurrency limits. Looking ahead, we have a clear roadmap for improvement, including migrating to PostgreSQL, implementing more robust authentication, adding full-text search, and improving observability with structured logging.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 also want to share a reflection on our use of generative AI tools like Cursor and DeepSeek. We found them to be powerful accelerators for coding and documentation. However, it's important to emphasize that human oversight remains critical. AI can introduce subtle issues, so we always verified its suggestions against our design principles and ran thorough tests. Used wisely, AI is a fantastic productivity tool.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That concludes my presentation. Thank you for your time. I'm now happy to answer any questions you may have about the project.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0" Type="http://schemas.openxmlformats.org/officeDocument/2006/relationships/notesSlide" Target="../notesSlides/notesSlide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tags" Target="../tags/tag4.xml"/><Relationship Id="rId38" Type="http://schemas.openxmlformats.org/officeDocument/2006/relationships/notesSlide" Target="../notesSlides/notesSlide4.xml"/><Relationship Id="rId37" Type="http://schemas.openxmlformats.org/officeDocument/2006/relationships/slideLayout" Target="../slideLayouts/slideLayout12.xml"/><Relationship Id="rId36" Type="http://schemas.openxmlformats.org/officeDocument/2006/relationships/tags" Target="../tags/tag30.xml"/><Relationship Id="rId35" Type="http://schemas.openxmlformats.org/officeDocument/2006/relationships/tags" Target="../tags/tag29.xml"/><Relationship Id="rId34" Type="http://schemas.openxmlformats.org/officeDocument/2006/relationships/tags" Target="../tags/tag28.xml"/><Relationship Id="rId33" Type="http://schemas.openxmlformats.org/officeDocument/2006/relationships/tags" Target="../tags/tag27.xml"/><Relationship Id="rId32" Type="http://schemas.openxmlformats.org/officeDocument/2006/relationships/tags" Target="../tags/tag26.xml"/><Relationship Id="rId31" Type="http://schemas.openxmlformats.org/officeDocument/2006/relationships/tags" Target="../tags/tag25.xml"/><Relationship Id="rId30" Type="http://schemas.openxmlformats.org/officeDocument/2006/relationships/image" Target="../media/image14.svg"/><Relationship Id="rId3" Type="http://schemas.openxmlformats.org/officeDocument/2006/relationships/tags" Target="../tags/tag3.xml"/><Relationship Id="rId29" Type="http://schemas.openxmlformats.org/officeDocument/2006/relationships/image" Target="../media/image13.png"/><Relationship Id="rId28" Type="http://schemas.openxmlformats.org/officeDocument/2006/relationships/tags" Target="../tags/tag24.xml"/><Relationship Id="rId27" Type="http://schemas.openxmlformats.org/officeDocument/2006/relationships/tags" Target="../tags/tag23.xml"/><Relationship Id="rId26" Type="http://schemas.openxmlformats.org/officeDocument/2006/relationships/tags" Target="../tags/tag22.xml"/><Relationship Id="rId25" Type="http://schemas.openxmlformats.org/officeDocument/2006/relationships/tags" Target="../tags/tag21.xml"/><Relationship Id="rId24" Type="http://schemas.openxmlformats.org/officeDocument/2006/relationships/tags" Target="../tags/tag20.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tags" Target="../tags/tag2.xml"/><Relationship Id="rId19" Type="http://schemas.openxmlformats.org/officeDocument/2006/relationships/tags" Target="../tags/tag15.xml"/><Relationship Id="rId18" Type="http://schemas.openxmlformats.org/officeDocument/2006/relationships/image" Target="../media/image12.svg"/><Relationship Id="rId17" Type="http://schemas.openxmlformats.org/officeDocument/2006/relationships/image" Target="../media/image11.png"/><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2" Type="http://schemas.openxmlformats.org/officeDocument/2006/relationships/notesSlide" Target="../notesSlides/notesSlide5.xml"/><Relationship Id="rId11" Type="http://schemas.openxmlformats.org/officeDocument/2006/relationships/slideLayout" Target="../slideLayouts/slideLayout12.xml"/><Relationship Id="rId10" Type="http://schemas.openxmlformats.org/officeDocument/2006/relationships/image" Target="../media/image22.svg"/><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image" Target="../media/image24.svg"/><Relationship Id="rId4" Type="http://schemas.openxmlformats.org/officeDocument/2006/relationships/image" Target="../media/image23.png"/><Relationship Id="rId31" Type="http://schemas.openxmlformats.org/officeDocument/2006/relationships/notesSlide" Target="../notesSlides/notesSlide6.xml"/><Relationship Id="rId30" Type="http://schemas.openxmlformats.org/officeDocument/2006/relationships/slideLayout" Target="../slideLayouts/slideLayout12.xml"/><Relationship Id="rId3" Type="http://schemas.openxmlformats.org/officeDocument/2006/relationships/tags" Target="../tags/tag33.xml"/><Relationship Id="rId29" Type="http://schemas.openxmlformats.org/officeDocument/2006/relationships/tags" Target="../tags/tag51.xml"/><Relationship Id="rId28" Type="http://schemas.openxmlformats.org/officeDocument/2006/relationships/tags" Target="../tags/tag50.xml"/><Relationship Id="rId27" Type="http://schemas.openxmlformats.org/officeDocument/2006/relationships/tags" Target="../tags/tag49.xml"/><Relationship Id="rId26" Type="http://schemas.openxmlformats.org/officeDocument/2006/relationships/tags" Target="../tags/tag48.xml"/><Relationship Id="rId25" Type="http://schemas.openxmlformats.org/officeDocument/2006/relationships/image" Target="../media/image30.svg"/><Relationship Id="rId24" Type="http://schemas.openxmlformats.org/officeDocument/2006/relationships/image" Target="../media/image29.png"/><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32.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image" Target="../media/image28.svg"/><Relationship Id="rId15" Type="http://schemas.openxmlformats.org/officeDocument/2006/relationships/image" Target="../media/image27.png"/><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image" Target="../media/image26.svg"/><Relationship Id="rId10" Type="http://schemas.openxmlformats.org/officeDocument/2006/relationships/image" Target="../media/image25.png"/><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tags" Target="../tags/tag55.xml"/><Relationship Id="rId3" Type="http://schemas.openxmlformats.org/officeDocument/2006/relationships/tags" Target="../tags/tag54.xml"/><Relationship Id="rId28" Type="http://schemas.openxmlformats.org/officeDocument/2006/relationships/notesSlide" Target="../notesSlides/notesSlide8.xml"/><Relationship Id="rId27" Type="http://schemas.openxmlformats.org/officeDocument/2006/relationships/slideLayout" Target="../slideLayouts/slideLayout12.xml"/><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image" Target="../media/image36.svg"/><Relationship Id="rId23" Type="http://schemas.openxmlformats.org/officeDocument/2006/relationships/image" Target="../media/image35.png"/><Relationship Id="rId22" Type="http://schemas.openxmlformats.org/officeDocument/2006/relationships/tags" Target="../tags/tag69.xml"/><Relationship Id="rId21" Type="http://schemas.openxmlformats.org/officeDocument/2006/relationships/tags" Target="../tags/tag68.xml"/><Relationship Id="rId20" Type="http://schemas.openxmlformats.org/officeDocument/2006/relationships/tags" Target="../tags/tag67.xml"/><Relationship Id="rId2" Type="http://schemas.openxmlformats.org/officeDocument/2006/relationships/tags" Target="../tags/tag53.xml"/><Relationship Id="rId19" Type="http://schemas.openxmlformats.org/officeDocument/2006/relationships/tags" Target="../tags/tag66.xml"/><Relationship Id="rId18" Type="http://schemas.openxmlformats.org/officeDocument/2006/relationships/image" Target="../media/image34.svg"/><Relationship Id="rId17" Type="http://schemas.openxmlformats.org/officeDocument/2006/relationships/image" Target="../media/image33.png"/><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38.svg"/><Relationship Id="rId1" Type="http://schemas.openxmlformats.org/officeDocument/2006/relationships/image" Target="../media/image37.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image" Target="../media/image42.svg"/><Relationship Id="rId10" Type="http://schemas.openxmlformats.org/officeDocument/2006/relationships/notesSlide" Target="../notesSlides/notesSlide10.xml"/><Relationship Id="rId1" Type="http://schemas.openxmlformats.org/officeDocument/2006/relationships/image" Target="../media/image41.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s>
</file>

<file path=ppt/slides/_rels/slide12.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svg"/><Relationship Id="rId7" Type="http://schemas.openxmlformats.org/officeDocument/2006/relationships/image" Target="../media/image57.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10.svg"/><Relationship Id="rId3" Type="http://schemas.openxmlformats.org/officeDocument/2006/relationships/image" Target="../media/image54.png"/><Relationship Id="rId2" Type="http://schemas.openxmlformats.org/officeDocument/2006/relationships/image" Target="../media/image24.svg"/><Relationship Id="rId12" Type="http://schemas.openxmlformats.org/officeDocument/2006/relationships/notesSlide" Target="../notesSlides/notesSlide12.xml"/><Relationship Id="rId11" Type="http://schemas.openxmlformats.org/officeDocument/2006/relationships/slideLayout" Target="../slideLayouts/slideLayout12.xml"/><Relationship Id="rId10" Type="http://schemas.openxmlformats.org/officeDocument/2006/relationships/image" Target="../media/image60.svg"/><Relationship Id="rId1" Type="http://schemas.openxmlformats.org/officeDocument/2006/relationships/image" Target="../media/image53.png"/></Relationships>
</file>

<file path=ppt/slides/_rels/slide13.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tags" Target="../tags/tag75.xml"/><Relationship Id="rId3" Type="http://schemas.openxmlformats.org/officeDocument/2006/relationships/tags" Target="../tags/tag74.xml"/><Relationship Id="rId22" Type="http://schemas.openxmlformats.org/officeDocument/2006/relationships/notesSlide" Target="../notesSlides/notesSlide13.xml"/><Relationship Id="rId21" Type="http://schemas.openxmlformats.org/officeDocument/2006/relationships/slideLayout" Target="../slideLayouts/slideLayout12.xml"/><Relationship Id="rId20" Type="http://schemas.openxmlformats.org/officeDocument/2006/relationships/tags" Target="../tags/tag87.xml"/><Relationship Id="rId2" Type="http://schemas.openxmlformats.org/officeDocument/2006/relationships/tags" Target="../tags/tag73.xml"/><Relationship Id="rId19" Type="http://schemas.openxmlformats.org/officeDocument/2006/relationships/tags" Target="../tags/tag86.xml"/><Relationship Id="rId18" Type="http://schemas.openxmlformats.org/officeDocument/2006/relationships/tags" Target="../tags/tag85.xml"/><Relationship Id="rId17" Type="http://schemas.openxmlformats.org/officeDocument/2006/relationships/tags" Target="../tags/tag84.xml"/><Relationship Id="rId16" Type="http://schemas.openxmlformats.org/officeDocument/2006/relationships/image" Target="../media/image64.svg"/><Relationship Id="rId15" Type="http://schemas.openxmlformats.org/officeDocument/2006/relationships/image" Target="../media/image63.png"/><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2.xml"/></Relationships>
</file>

<file path=ppt/slides/_rels/slide14.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image" Target="../media/image65.svg"/><Relationship Id="rId4" Type="http://schemas.openxmlformats.org/officeDocument/2006/relationships/image" Target="../media/image45.png"/><Relationship Id="rId3" Type="http://schemas.openxmlformats.org/officeDocument/2006/relationships/tags" Target="../tags/tag90.xml"/><Relationship Id="rId25" Type="http://schemas.openxmlformats.org/officeDocument/2006/relationships/notesSlide" Target="../notesSlides/notesSlide14.xml"/><Relationship Id="rId24" Type="http://schemas.openxmlformats.org/officeDocument/2006/relationships/slideLayout" Target="../slideLayouts/slideLayout12.xml"/><Relationship Id="rId23" Type="http://schemas.openxmlformats.org/officeDocument/2006/relationships/tags" Target="../tags/tag105.xml"/><Relationship Id="rId22" Type="http://schemas.openxmlformats.org/officeDocument/2006/relationships/tags" Target="../tags/tag104.xml"/><Relationship Id="rId21" Type="http://schemas.openxmlformats.org/officeDocument/2006/relationships/tags" Target="../tags/tag103.xml"/><Relationship Id="rId20" Type="http://schemas.openxmlformats.org/officeDocument/2006/relationships/image" Target="../media/image68.svg"/><Relationship Id="rId2" Type="http://schemas.openxmlformats.org/officeDocument/2006/relationships/tags" Target="../tags/tag89.xml"/><Relationship Id="rId19" Type="http://schemas.openxmlformats.org/officeDocument/2006/relationships/image" Target="../media/image67.png"/><Relationship Id="rId18" Type="http://schemas.openxmlformats.org/officeDocument/2006/relationships/tags" Target="../tags/tag102.xml"/><Relationship Id="rId17" Type="http://schemas.openxmlformats.org/officeDocument/2006/relationships/tags" Target="../tags/tag101.xml"/><Relationship Id="rId16" Type="http://schemas.openxmlformats.org/officeDocument/2006/relationships/tags" Target="../tags/tag100.xml"/><Relationship Id="rId15" Type="http://schemas.openxmlformats.org/officeDocument/2006/relationships/tags" Target="../tags/tag99.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image" Target="../media/image66.svg"/><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8.xml"/></Relationships>
</file>

<file path=ppt/slides/_rels/slide15.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image" Target="../media/image70.svg"/><Relationship Id="rId3" Type="http://schemas.openxmlformats.org/officeDocument/2006/relationships/image" Target="../media/image69.png"/><Relationship Id="rId2" Type="http://schemas.openxmlformats.org/officeDocument/2006/relationships/tags" Target="../tags/tag107.xml"/><Relationship Id="rId18" Type="http://schemas.openxmlformats.org/officeDocument/2006/relationships/notesSlide" Target="../notesSlides/notesSlide15.xml"/><Relationship Id="rId17" Type="http://schemas.openxmlformats.org/officeDocument/2006/relationships/slideLayout" Target="../slideLayouts/slideLayout12.xml"/><Relationship Id="rId16" Type="http://schemas.openxmlformats.org/officeDocument/2006/relationships/tags" Target="../tags/tag117.xml"/><Relationship Id="rId15" Type="http://schemas.openxmlformats.org/officeDocument/2006/relationships/tags" Target="../tags/tag116.xml"/><Relationship Id="rId14" Type="http://schemas.openxmlformats.org/officeDocument/2006/relationships/tags" Target="../tags/tag115.xml"/><Relationship Id="rId13" Type="http://schemas.openxmlformats.org/officeDocument/2006/relationships/tags" Target="../tags/tag114.xml"/><Relationship Id="rId12" Type="http://schemas.openxmlformats.org/officeDocument/2006/relationships/image" Target="../media/image30.svg"/><Relationship Id="rId11" Type="http://schemas.openxmlformats.org/officeDocument/2006/relationships/image" Target="../media/image71.png"/><Relationship Id="rId10" Type="http://schemas.openxmlformats.org/officeDocument/2006/relationships/tags" Target="../tags/tag113.xml"/><Relationship Id="rId1" Type="http://schemas.openxmlformats.org/officeDocument/2006/relationships/tags" Target="../tags/tag106.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2.xml"/><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 Id="rId3" Type="http://schemas.openxmlformats.org/officeDocument/2006/relationships/image" Target="../media/image74.png"/><Relationship Id="rId2" Type="http://schemas.openxmlformats.org/officeDocument/2006/relationships/image" Target="../media/image73.svg"/><Relationship Id="rId1" Type="http://schemas.openxmlformats.org/officeDocument/2006/relationships/image" Target="../media/image72.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20.svg"/><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0.svg"/><Relationship Id="rId7" Type="http://schemas.openxmlformats.org/officeDocument/2006/relationships/image" Target="../media/image89.png"/><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86.svg"/><Relationship Id="rId3" Type="http://schemas.openxmlformats.org/officeDocument/2006/relationships/image" Target="../media/image85.png"/><Relationship Id="rId2" Type="http://schemas.openxmlformats.org/officeDocument/2006/relationships/image" Target="../media/image84.svg"/><Relationship Id="rId10" Type="http://schemas.openxmlformats.org/officeDocument/2006/relationships/notesSlide" Target="../notesSlides/notesSlide18.xml"/><Relationship Id="rId1" Type="http://schemas.openxmlformats.org/officeDocument/2006/relationships/image" Target="../media/image83.png"/></Relationships>
</file>

<file path=ppt/slides/_rels/slide19.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96.svg"/><Relationship Id="rId7" Type="http://schemas.openxmlformats.org/officeDocument/2006/relationships/image" Target="../media/image95.png"/><Relationship Id="rId6" Type="http://schemas.openxmlformats.org/officeDocument/2006/relationships/image" Target="../media/image20.svg"/><Relationship Id="rId5" Type="http://schemas.openxmlformats.org/officeDocument/2006/relationships/image" Target="../media/image80.png"/><Relationship Id="rId4" Type="http://schemas.openxmlformats.org/officeDocument/2006/relationships/image" Target="../media/image94.svg"/><Relationship Id="rId3" Type="http://schemas.openxmlformats.org/officeDocument/2006/relationships/image" Target="../media/image93.png"/><Relationship Id="rId2" Type="http://schemas.openxmlformats.org/officeDocument/2006/relationships/image" Target="../media/image92.svg"/><Relationship Id="rId14" Type="http://schemas.openxmlformats.org/officeDocument/2006/relationships/notesSlide" Target="../notesSlides/notesSlide19.xml"/><Relationship Id="rId13" Type="http://schemas.openxmlformats.org/officeDocument/2006/relationships/slideLayout" Target="../slideLayouts/slideLayout12.xml"/><Relationship Id="rId12" Type="http://schemas.openxmlformats.org/officeDocument/2006/relationships/image" Target="../media/image100.svg"/><Relationship Id="rId11" Type="http://schemas.openxmlformats.org/officeDocument/2006/relationships/image" Target="../media/image99.png"/><Relationship Id="rId10" Type="http://schemas.openxmlformats.org/officeDocument/2006/relationships/image" Target="../media/image98.svg"/><Relationship Id="rId1" Type="http://schemas.openxmlformats.org/officeDocument/2006/relationships/image" Target="../media/image9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1755" y="105156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spc="40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TECHNICAL PROJECT REPORT</a:t>
            </a:r>
            <a:endParaRPr lang="en-US" sz="1100"/>
          </a:p>
        </p:txBody>
      </p:sp>
      <p:sp>
        <p:nvSpPr>
          <p:cNvPr id="3" name="AutoShape 3"/>
          <p:cNvSpPr/>
          <p:nvPr/>
        </p:nvSpPr>
        <p:spPr>
          <a:xfrm>
            <a:off x="0" y="2286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Book Library and Analytics API</a:t>
            </a:r>
            <a:endParaRPr lang="en-US" sz="1100"/>
          </a:p>
        </p:txBody>
      </p:sp>
      <p:sp>
        <p:nvSpPr>
          <p:cNvPr id="4" name="AutoShape 4"/>
          <p:cNvSpPr/>
          <p:nvPr/>
        </p:nvSpPr>
        <p:spPr>
          <a:xfrm>
            <a:off x="5588000" y="3429000"/>
            <a:ext cx="1016000" cy="50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651000" y="3937000"/>
            <a:ext cx="8890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0"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 RESTful Backend Service for Book Catalog Management and Analysis</a:t>
            </a:r>
            <a:endParaRPr lang="en-US" sz="1100"/>
          </a:p>
        </p:txBody>
      </p:sp>
      <p:sp>
        <p:nvSpPr>
          <p:cNvPr id="6" name="AutoShape 6"/>
          <p:cNvSpPr/>
          <p:nvPr/>
        </p:nvSpPr>
        <p:spPr>
          <a:xfrm>
            <a:off x="0" y="5207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Presenter:  H</a:t>
            </a: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uijun Zuo</a:t>
            </a:r>
            <a:endPar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0" y="5715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Date: April 18,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Agenda</a:t>
            </a:r>
            <a:endParaRPr lang="en-US" sz="1100"/>
          </a:p>
        </p:txBody>
      </p:sp>
      <p:sp>
        <p:nvSpPr>
          <p:cNvPr id="3" name="AutoShape 3"/>
          <p:cNvSpPr/>
          <p:nvPr/>
        </p:nvSpPr>
        <p:spPr>
          <a:xfrm>
            <a:off x="762000" y="1206500"/>
            <a:ext cx="508000" cy="50800"/>
          </a:xfrm>
          <a:prstGeom prst="roundRect">
            <a:avLst>
              <a:gd name="adj" fmla="val 0"/>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286000"/>
            <a:ext cx="2032000" cy="2032000"/>
          </a:xfrm>
          <a:prstGeom prst="ellipse">
            <a:avLst/>
          </a:prstGeom>
          <a:solidFill>
            <a:srgbClr val="4A6B8A">
              <a:alpha val="6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89000" y="3175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09</a:t>
            </a:r>
            <a:endParaRPr lang="en-US" sz="1100"/>
          </a:p>
        </p:txBody>
      </p:sp>
      <p:sp>
        <p:nvSpPr>
          <p:cNvPr id="6" name="AutoShape 6"/>
          <p:cNvSpPr/>
          <p:nvPr/>
        </p:nvSpPr>
        <p:spPr>
          <a:xfrm>
            <a:off x="889000" y="3810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4A6B8A">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SESSIONS</a:t>
            </a:r>
            <a:endParaRPr lang="en-US" sz="1100"/>
          </a:p>
        </p:txBody>
      </p:sp>
      <p:sp>
        <p:nvSpPr>
          <p:cNvPr id="7" name="AutoShape 7"/>
          <p:cNvSpPr/>
          <p:nvPr/>
        </p:nvSpPr>
        <p:spPr>
          <a:xfrm>
            <a:off x="3048000" y="1397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8" name="AutoShape 8"/>
          <p:cNvSpPr/>
          <p:nvPr/>
        </p:nvSpPr>
        <p:spPr>
          <a:xfrm>
            <a:off x="3238500" y="1587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9" name="AutoShape 9"/>
          <p:cNvSpPr/>
          <p:nvPr/>
        </p:nvSpPr>
        <p:spPr>
          <a:xfrm>
            <a:off x="4000500" y="1651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Overview</a:t>
            </a:r>
            <a:endParaRPr lang="en-US" sz="1100"/>
          </a:p>
        </p:txBody>
      </p:sp>
      <p:sp>
        <p:nvSpPr>
          <p:cNvPr id="10" name="AutoShape 10"/>
          <p:cNvSpPr/>
          <p:nvPr/>
        </p:nvSpPr>
        <p:spPr>
          <a:xfrm>
            <a:off x="4000500" y="2159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functionality and key project objectives.</a:t>
            </a:r>
            <a:endParaRPr lang="en-US" sz="1100"/>
          </a:p>
        </p:txBody>
      </p:sp>
      <p:sp>
        <p:nvSpPr>
          <p:cNvPr id="11" name="AutoShape 11"/>
          <p:cNvSpPr/>
          <p:nvPr/>
        </p:nvSpPr>
        <p:spPr>
          <a:xfrm>
            <a:off x="3048000" y="3175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2" name="AutoShape 12"/>
          <p:cNvSpPr/>
          <p:nvPr/>
        </p:nvSpPr>
        <p:spPr>
          <a:xfrm>
            <a:off x="3238500" y="3365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 name="AutoShape 13"/>
          <p:cNvSpPr/>
          <p:nvPr/>
        </p:nvSpPr>
        <p:spPr>
          <a:xfrm>
            <a:off x="4000500" y="3429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Architecture</a:t>
            </a:r>
            <a:endParaRPr lang="en-US" sz="1100"/>
          </a:p>
        </p:txBody>
      </p:sp>
      <p:sp>
        <p:nvSpPr>
          <p:cNvPr id="14" name="AutoShape 14"/>
          <p:cNvSpPr/>
          <p:nvPr/>
        </p:nvSpPr>
        <p:spPr>
          <a:xfrm>
            <a:off x="4000500" y="3937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Deep dive into three-tier design &amp; modular structure.</a:t>
            </a:r>
            <a:endParaRPr lang="en-US" sz="1100"/>
          </a:p>
        </p:txBody>
      </p:sp>
      <p:sp>
        <p:nvSpPr>
          <p:cNvPr id="15" name="AutoShape 15"/>
          <p:cNvSpPr/>
          <p:nvPr/>
        </p:nvSpPr>
        <p:spPr>
          <a:xfrm>
            <a:off x="3048000" y="4953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6" name="AutoShape 16"/>
          <p:cNvSpPr/>
          <p:nvPr/>
        </p:nvSpPr>
        <p:spPr>
          <a:xfrm>
            <a:off x="3238500" y="5143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nvSpPr>
        <p:spPr>
          <a:xfrm>
            <a:off x="4000500" y="5207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Technology Stack</a:t>
            </a:r>
            <a:endParaRPr lang="en-US" sz="1100"/>
          </a:p>
        </p:txBody>
      </p:sp>
      <p:sp>
        <p:nvSpPr>
          <p:cNvPr id="18" name="AutoShape 18"/>
          <p:cNvSpPr/>
          <p:nvPr/>
        </p:nvSpPr>
        <p:spPr>
          <a:xfrm>
            <a:off x="4000500" y="5715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Rationale and justification behind key tech choices.</a:t>
            </a:r>
            <a:endParaRPr lang="en-US" sz="1100"/>
          </a:p>
        </p:txBody>
      </p:sp>
      <p:sp>
        <p:nvSpPr>
          <p:cNvPr id="19" name="AutoShape 19"/>
          <p:cNvSpPr/>
          <p:nvPr/>
        </p:nvSpPr>
        <p:spPr>
          <a:xfrm>
            <a:off x="5969000" y="1397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0" name="AutoShape 20"/>
          <p:cNvSpPr/>
          <p:nvPr/>
        </p:nvSpPr>
        <p:spPr>
          <a:xfrm>
            <a:off x="6159500" y="1587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1" name="AutoShape 21"/>
          <p:cNvSpPr/>
          <p:nvPr/>
        </p:nvSpPr>
        <p:spPr>
          <a:xfrm>
            <a:off x="6921500" y="1651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Model</a:t>
            </a:r>
            <a:endParaRPr lang="en-US" sz="1100"/>
          </a:p>
        </p:txBody>
      </p:sp>
      <p:sp>
        <p:nvSpPr>
          <p:cNvPr id="22" name="AutoShape 22"/>
          <p:cNvSpPr/>
          <p:nvPr/>
        </p:nvSpPr>
        <p:spPr>
          <a:xfrm>
            <a:off x="6921500" y="2159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Detailed schema of the  books  table &amp; API semantics.</a:t>
            </a:r>
            <a:endParaRPr lang="en-US" sz="1100"/>
          </a:p>
        </p:txBody>
      </p:sp>
      <p:sp>
        <p:nvSpPr>
          <p:cNvPr id="23" name="AutoShape 23"/>
          <p:cNvSpPr/>
          <p:nvPr/>
        </p:nvSpPr>
        <p:spPr>
          <a:xfrm>
            <a:off x="5969000" y="3175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4" name="AutoShape 24"/>
          <p:cNvSpPr/>
          <p:nvPr/>
        </p:nvSpPr>
        <p:spPr>
          <a:xfrm>
            <a:off x="6159500" y="3365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5" name="AutoShape 25"/>
          <p:cNvSpPr/>
          <p:nvPr/>
        </p:nvSpPr>
        <p:spPr>
          <a:xfrm>
            <a:off x="6921500" y="3429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API Endpoints</a:t>
            </a:r>
            <a:endParaRPr lang="en-US" sz="1100"/>
          </a:p>
        </p:txBody>
      </p:sp>
      <p:sp>
        <p:nvSpPr>
          <p:cNvPr id="26" name="AutoShape 26"/>
          <p:cNvSpPr/>
          <p:nvPr/>
        </p:nvSpPr>
        <p:spPr>
          <a:xfrm>
            <a:off x="6921500" y="3937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Breakdown of CRUD ops, Analytics &amp; Health Check.</a:t>
            </a:r>
            <a:endParaRPr lang="en-US" sz="1100"/>
          </a:p>
        </p:txBody>
      </p:sp>
      <p:sp>
        <p:nvSpPr>
          <p:cNvPr id="27" name="AutoShape 27"/>
          <p:cNvSpPr/>
          <p:nvPr/>
        </p:nvSpPr>
        <p:spPr>
          <a:xfrm>
            <a:off x="5969000" y="4953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8" name="AutoShape 28"/>
          <p:cNvSpPr/>
          <p:nvPr/>
        </p:nvSpPr>
        <p:spPr>
          <a:xfrm>
            <a:off x="6159500" y="5143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9" name="AutoShape 29"/>
          <p:cNvSpPr/>
          <p:nvPr/>
        </p:nvSpPr>
        <p:spPr>
          <a:xfrm>
            <a:off x="6921500" y="5207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Security &amp; Ops</a:t>
            </a:r>
            <a:endParaRPr lang="en-US" sz="1100"/>
          </a:p>
        </p:txBody>
      </p:sp>
      <p:sp>
        <p:nvSpPr>
          <p:cNvPr id="30" name="AutoShape 30"/>
          <p:cNvSpPr/>
          <p:nvPr/>
        </p:nvSpPr>
        <p:spPr>
          <a:xfrm>
            <a:off x="6921500" y="5715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Authentication protocols, deployment &amp; data ingestion.</a:t>
            </a:r>
            <a:endParaRPr lang="en-US" sz="1100"/>
          </a:p>
        </p:txBody>
      </p:sp>
      <p:sp>
        <p:nvSpPr>
          <p:cNvPr id="31" name="AutoShape 31"/>
          <p:cNvSpPr/>
          <p:nvPr/>
        </p:nvSpPr>
        <p:spPr>
          <a:xfrm>
            <a:off x="8890000" y="1397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32" name="AutoShape 32"/>
          <p:cNvSpPr/>
          <p:nvPr/>
        </p:nvSpPr>
        <p:spPr>
          <a:xfrm>
            <a:off x="9080500" y="1587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33" name="AutoShape 33"/>
          <p:cNvSpPr/>
          <p:nvPr/>
        </p:nvSpPr>
        <p:spPr>
          <a:xfrm>
            <a:off x="9842500" y="1651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Testing &amp; Learnings</a:t>
            </a:r>
            <a:endParaRPr lang="en-US" sz="1100"/>
          </a:p>
        </p:txBody>
      </p:sp>
      <p:sp>
        <p:nvSpPr>
          <p:cNvPr id="34" name="AutoShape 34"/>
          <p:cNvSpPr/>
          <p:nvPr/>
        </p:nvSpPr>
        <p:spPr>
          <a:xfrm>
            <a:off x="9842500" y="2159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QA process, challenges faced &amp; key takeaways.</a:t>
            </a:r>
            <a:endParaRPr lang="en-US" sz="1100"/>
          </a:p>
        </p:txBody>
      </p:sp>
      <p:sp>
        <p:nvSpPr>
          <p:cNvPr id="35" name="AutoShape 35"/>
          <p:cNvSpPr/>
          <p:nvPr/>
        </p:nvSpPr>
        <p:spPr>
          <a:xfrm>
            <a:off x="8890000" y="3175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36" name="AutoShape 36"/>
          <p:cNvSpPr/>
          <p:nvPr/>
        </p:nvSpPr>
        <p:spPr>
          <a:xfrm>
            <a:off x="9080500" y="3365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37" name="AutoShape 37"/>
          <p:cNvSpPr/>
          <p:nvPr/>
        </p:nvSpPr>
        <p:spPr>
          <a:xfrm>
            <a:off x="9842500" y="3429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Limitations &amp; Future</a:t>
            </a:r>
            <a:endParaRPr lang="en-US" sz="1100"/>
          </a:p>
        </p:txBody>
      </p:sp>
      <p:sp>
        <p:nvSpPr>
          <p:cNvPr id="38" name="AutoShape 38"/>
          <p:cNvSpPr/>
          <p:nvPr/>
        </p:nvSpPr>
        <p:spPr>
          <a:xfrm>
            <a:off x="9842500" y="3937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Current system constraints and future roadmap.</a:t>
            </a:r>
            <a:endParaRPr lang="en-US" sz="1100"/>
          </a:p>
        </p:txBody>
      </p:sp>
      <p:sp>
        <p:nvSpPr>
          <p:cNvPr id="39" name="AutoShape 39"/>
          <p:cNvSpPr/>
          <p:nvPr/>
        </p:nvSpPr>
        <p:spPr>
          <a:xfrm>
            <a:off x="8890000" y="4953000"/>
            <a:ext cx="2667000" cy="1524000"/>
          </a:xfrm>
          <a:prstGeom prst="roundRect">
            <a:avLst>
              <a:gd name="adj" fmla="val 833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0" name="AutoShape 40"/>
          <p:cNvSpPr/>
          <p:nvPr/>
        </p:nvSpPr>
        <p:spPr>
          <a:xfrm>
            <a:off x="9080500" y="5143500"/>
            <a:ext cx="63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09</a:t>
            </a:r>
            <a:endParaRPr lang="en-US" sz="1100"/>
          </a:p>
        </p:txBody>
      </p:sp>
      <p:sp>
        <p:nvSpPr>
          <p:cNvPr id="41" name="AutoShape 41"/>
          <p:cNvSpPr/>
          <p:nvPr/>
        </p:nvSpPr>
        <p:spPr>
          <a:xfrm>
            <a:off x="9842500" y="5207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Gen AI Usage</a:t>
            </a:r>
            <a:endParaRPr lang="en-US" sz="1100"/>
          </a:p>
        </p:txBody>
      </p:sp>
      <p:sp>
        <p:nvSpPr>
          <p:cNvPr id="42" name="AutoShape 42"/>
          <p:cNvSpPr/>
          <p:nvPr/>
        </p:nvSpPr>
        <p:spPr>
          <a:xfrm>
            <a:off x="9842500" y="5715000"/>
            <a:ext cx="1460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Reflective analysis of AI tool integration.</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 Robust API for Book Catalog Management and Analysis</a:t>
            </a:r>
            <a:endParaRPr lang="en-US" sz="1100"/>
          </a:p>
        </p:txBody>
      </p:sp>
      <p:sp>
        <p:nvSpPr>
          <p:cNvPr id="3" name="AutoShape 3"/>
          <p:cNvSpPr/>
          <p:nvPr/>
        </p:nvSpPr>
        <p:spPr>
          <a:xfrm>
            <a:off x="762000" y="1143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Overview &amp; Core Functionalities</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2006600" y="2032000"/>
            <a:ext cx="812800" cy="812800"/>
          </a:xfrm>
          <a:prstGeom prst="ellipse">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59000" y="2184400"/>
            <a:ext cx="508000" cy="508000"/>
          </a:xfrm>
          <a:prstGeom prst="rect">
            <a:avLst/>
          </a:prstGeom>
        </p:spPr>
      </p:pic>
      <p:sp>
        <p:nvSpPr>
          <p:cNvPr id="7" name="AutoShape 7"/>
          <p:cNvSpPr/>
          <p:nvPr/>
        </p:nvSpPr>
        <p:spPr>
          <a:xfrm>
            <a:off x="1016000" y="3048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Complete Catalog Management</a:t>
            </a:r>
            <a:endParaRPr lang="en-US" sz="1100"/>
          </a:p>
        </p:txBody>
      </p:sp>
      <p:sp>
        <p:nvSpPr>
          <p:cNvPr id="8" name="AutoShape 8"/>
          <p:cNvSpPr/>
          <p:nvPr/>
        </p:nvSpPr>
        <p:spPr>
          <a:xfrm>
            <a:off x="2032000" y="3683000"/>
            <a:ext cx="762000" cy="50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descr="7b0a202020202262756c6c6574223a20227b5c2263617465676f727949645c223a5c225c222c5c2274656d706c61746549645c223a32303233313634357d220a7d0a"/>
          <p:cNvSpPr/>
          <p:nvPr/>
        </p:nvSpPr>
        <p:spPr>
          <a:xfrm>
            <a:off x="762000" y="3860800"/>
            <a:ext cx="3329305" cy="204279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buNone/>
              <a:defRPr/>
            </a:pPr>
            <a:r>
              <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CRUD capabilities for book records, includ</a:t>
            </a:r>
            <a:r>
              <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ing </a:t>
            </a:r>
            <a:endPar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42900" indent="-342900" algn="l">
              <a:lnSpc>
                <a:spcPct val="117000"/>
              </a:lnSpc>
              <a:buFont typeface="Arial" panose="020B0604020202020204" pitchFamily="34" charset="0"/>
              <a:buBlip>
                <a:blip r:embed="rId3">
                  <a:extLst>
                    <a:ext uri="{96DAC541-7B7A-43D3-8B79-37D633B846F1}">
                      <asvg:svgBlip xmlns:asvg="http://schemas.microsoft.com/office/drawing/2016/SVG/main" r:embed="rId4"/>
                    </a:ext>
                  </a:extLst>
                </a:blip>
              </a:buBlip>
              <a:defRPr/>
            </a:pPr>
            <a:r>
              <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querying by ID, </a:t>
            </a:r>
            <a:endPar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42900" indent="-342900" algn="l">
              <a:lnSpc>
                <a:spcPct val="117000"/>
              </a:lnSpc>
              <a:buFont typeface="Arial" panose="020B0604020202020204" pitchFamily="34" charset="0"/>
              <a:buBlip>
                <a:blip r:embed="rId3">
                  <a:extLst>
                    <a:ext uri="{96DAC541-7B7A-43D3-8B79-37D633B846F1}">
                      <asvg:svgBlip xmlns:asvg="http://schemas.microsoft.com/office/drawing/2016/SVG/main" r:embed="rId4"/>
                    </a:ext>
                  </a:extLst>
                </a:blip>
              </a:buBlip>
              <a:defRPr/>
            </a:pPr>
            <a:r>
              <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filtering by genre,  </a:t>
            </a:r>
            <a:endPar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342900" indent="-342900" algn="l">
              <a:lnSpc>
                <a:spcPct val="117000"/>
              </a:lnSpc>
              <a:buFont typeface="Arial" panose="020B0604020202020204" pitchFamily="34" charset="0"/>
              <a:buBlip>
                <a:blip r:embed="rId3">
                  <a:extLst>
                    <a:ext uri="{96DAC541-7B7A-43D3-8B79-37D633B846F1}">
                      <asvg:svgBlip xmlns:asvg="http://schemas.microsoft.com/office/drawing/2016/SVG/main" r:embed="rId4"/>
                    </a:ext>
                  </a:extLst>
                </a:blip>
              </a:buBlip>
              <a:defRPr/>
            </a:pPr>
            <a:r>
              <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retrieving paginated lists</a:t>
            </a:r>
            <a:endParaRPr lang="en-US" sz="20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445000" y="1778000"/>
            <a:ext cx="3302000" cy="4342130"/>
          </a:xfrm>
          <a:prstGeom prst="roundRect">
            <a:avLst>
              <a:gd name="adj" fmla="val 4615"/>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5689600" y="2032000"/>
            <a:ext cx="812800" cy="812800"/>
          </a:xfrm>
          <a:prstGeom prst="ellipse">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2000" y="2184400"/>
            <a:ext cx="508000" cy="508000"/>
          </a:xfrm>
          <a:prstGeom prst="rect">
            <a:avLst/>
          </a:prstGeom>
        </p:spPr>
      </p:pic>
      <p:sp>
        <p:nvSpPr>
          <p:cNvPr id="13" name="AutoShape 13"/>
          <p:cNvSpPr/>
          <p:nvPr/>
        </p:nvSpPr>
        <p:spPr>
          <a:xfrm>
            <a:off x="4699000" y="3048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Genre Statistics</a:t>
            </a:r>
            <a:endParaRPr lang="en-US" sz="1100"/>
          </a:p>
        </p:txBody>
      </p:sp>
      <p:sp>
        <p:nvSpPr>
          <p:cNvPr id="14" name="AutoShape 14"/>
          <p:cNvSpPr/>
          <p:nvPr/>
        </p:nvSpPr>
        <p:spPr>
          <a:xfrm>
            <a:off x="5715000" y="3683000"/>
            <a:ext cx="762000" cy="50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descr="7b0a202020202262756c6c6574223a20227b5c2263617465676f727949645c223a5c225c222c5c2274656d706c61746549645c223a32303233313634357d220a7d0a"/>
          <p:cNvSpPr/>
          <p:nvPr/>
        </p:nvSpPr>
        <p:spPr>
          <a:xfrm>
            <a:off x="4526915" y="3860800"/>
            <a:ext cx="3336925" cy="225933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a:t>
            </a: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rovides insightful analytics by grouping books by genre. including: </a:t>
            </a:r>
            <a:endPar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lvl="1" indent="0" algn="l">
              <a:lnSpc>
                <a:spcPct val="117000"/>
              </a:lnSpc>
              <a:buBlip>
                <a:blip r:embed="rId3">
                  <a:extLst>
                    <a:ext uri="{96DAC541-7B7A-43D3-8B79-37D633B846F1}">
                      <asvg:svgBlip xmlns:asvg="http://schemas.microsoft.com/office/drawing/2016/SVG/main" r:embed="rId4"/>
                    </a:ext>
                  </a:extLst>
                </a:blip>
              </a:buBlip>
              <a:defRPr/>
            </a:pP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total book count,</a:t>
            </a:r>
            <a:endPar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buBlip>
                <a:blip r:embed="rId3">
                  <a:extLst>
                    <a:ext uri="{96DAC541-7B7A-43D3-8B79-37D633B846F1}">
                      <asvg:svgBlip xmlns:asvg="http://schemas.microsoft.com/office/drawing/2016/SVG/main" r:embed="rId4"/>
                    </a:ext>
                  </a:extLst>
                </a:blip>
              </a:buBlip>
              <a:defRPr/>
            </a:pP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average rating, </a:t>
            </a:r>
            <a:endPar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buBlip>
                <a:blip r:embed="rId3">
                  <a:extLst>
                    <a:ext uri="{96DAC541-7B7A-43D3-8B79-37D633B846F1}">
                      <asvg:svgBlip xmlns:asvg="http://schemas.microsoft.com/office/drawing/2016/SVG/main" r:embed="rId4"/>
                    </a:ext>
                  </a:extLst>
                </a:blip>
              </a:buBlip>
              <a:defRPr/>
            </a:pP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offering valuable business intelligence.</a:t>
            </a:r>
            <a:endParaRPr lang="en-US" sz="1800"/>
          </a:p>
        </p:txBody>
      </p:sp>
      <p:sp>
        <p:nvSpPr>
          <p:cNvPr id="16" name="AutoShape 16"/>
          <p:cNvSpPr/>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9372600" y="2032000"/>
            <a:ext cx="812800" cy="812800"/>
          </a:xfrm>
          <a:prstGeom prst="ellipse">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0" y="2184400"/>
            <a:ext cx="508000" cy="508000"/>
          </a:xfrm>
          <a:prstGeom prst="rect">
            <a:avLst/>
          </a:prstGeom>
        </p:spPr>
      </p:pic>
      <p:sp>
        <p:nvSpPr>
          <p:cNvPr id="19" name="AutoShape 19"/>
          <p:cNvSpPr/>
          <p:nvPr/>
        </p:nvSpPr>
        <p:spPr>
          <a:xfrm>
            <a:off x="8382000" y="3048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Health Check &amp; Documentation</a:t>
            </a:r>
            <a:endParaRPr lang="en-US" sz="1100"/>
          </a:p>
        </p:txBody>
      </p:sp>
      <p:sp>
        <p:nvSpPr>
          <p:cNvPr id="20" name="AutoShape 20"/>
          <p:cNvSpPr/>
          <p:nvPr/>
        </p:nvSpPr>
        <p:spPr>
          <a:xfrm>
            <a:off x="9398000" y="3683000"/>
            <a:ext cx="762000" cy="50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82000" y="4064000"/>
            <a:ext cx="2794000" cy="191706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 lightweight  </a:t>
            </a:r>
            <a:r>
              <a:rPr lang="en-US" sz="1800" b="1" i="0" u="none" strike="noStrike">
                <a:solidFill>
                  <a:srgbClr val="1A1A1A"/>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/health</a:t>
            </a: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endpoint for liveness checks and auto-generated OpenAPI documentation via Swagger UI ( </a:t>
            </a:r>
            <a:r>
              <a:rPr lang="en-US" sz="1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/docs</a:t>
            </a: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 Clean, Modular Three-Tier Architecture</a:t>
            </a:r>
            <a:endParaRPr lang="en-US" sz="1100"/>
          </a:p>
        </p:txBody>
      </p:sp>
      <p:sp>
        <p:nvSpPr>
          <p:cNvPr id="3" name="AutoShape 3"/>
          <p:cNvSpPr/>
          <p:nvPr/>
        </p:nvSpPr>
        <p:spPr>
          <a:xfrm>
            <a:off x="762000" y="1143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Architecture &amp; Modular Structure</a:t>
            </a:r>
            <a:endParaRPr lang="en-US" sz="1100"/>
          </a:p>
        </p:txBody>
      </p:sp>
      <p:sp>
        <p:nvSpPr>
          <p:cNvPr id="4" name="AutoShape 4"/>
          <p:cNvSpPr/>
          <p:nvPr>
            <p:custDataLst>
              <p:tags r:id="rId1"/>
            </p:custDataLst>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778000"/>
            <a:ext cx="3302000" cy="889000"/>
          </a:xfrm>
          <a:prstGeom prst="roundRect">
            <a:avLst>
              <a:gd name="adj" fmla="val 17142"/>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016000" y="1968500"/>
            <a:ext cx="508000" cy="5080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7600" y="2070100"/>
            <a:ext cx="304800" cy="304800"/>
          </a:xfrm>
          <a:prstGeom prst="rect">
            <a:avLst/>
          </a:prstGeom>
        </p:spPr>
      </p:pic>
      <p:sp>
        <p:nvSpPr>
          <p:cNvPr id="8" name="AutoShape 8"/>
          <p:cNvSpPr/>
          <p:nvPr>
            <p:custDataLst>
              <p:tags r:id="rId7"/>
            </p:custDataLst>
          </p:nvPr>
        </p:nvSpPr>
        <p:spPr>
          <a:xfrm>
            <a:off x="1714500" y="19304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Presentation Layer</a:t>
            </a:r>
            <a:endParaRPr lang="en-US" sz="1100"/>
          </a:p>
          <a:p>
            <a:pPr indent="0" algn="l">
              <a:lnSpc>
                <a:spcPct val="125000"/>
              </a:lnSpc>
            </a:pP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Client Side Interface</a:t>
            </a:r>
            <a:endPar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8"/>
            </p:custDataLst>
          </p:nvPr>
        </p:nvSpPr>
        <p:spPr>
          <a:xfrm>
            <a:off x="849630" y="2725420"/>
            <a:ext cx="3214370" cy="89408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Accesses the backend API exclusively via standard HTTP requests and consumes structured JSON responses for rendering.</a:t>
            </a:r>
            <a:endParaRPr lang="en-US" sz="1600"/>
          </a:p>
        </p:txBody>
      </p:sp>
      <p:sp>
        <p:nvSpPr>
          <p:cNvPr id="10" name="AutoShape 10"/>
          <p:cNvSpPr/>
          <p:nvPr>
            <p:custDataLst>
              <p:tags r:id="rId9"/>
            </p:custDataLst>
          </p:nvPr>
        </p:nvSpPr>
        <p:spPr>
          <a:xfrm>
            <a:off x="1016000" y="3746500"/>
            <a:ext cx="2794000" cy="1143000"/>
          </a:xfrm>
          <a:prstGeom prst="roundRect">
            <a:avLst>
              <a:gd name="adj" fmla="val 8888"/>
            </a:avLst>
          </a:prstGeom>
          <a:solidFill>
            <a:srgbClr val="F0F2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10"/>
            </p:custDataLst>
          </p:nvPr>
        </p:nvSpPr>
        <p:spPr>
          <a:xfrm>
            <a:off x="1206500" y="3873500"/>
            <a:ext cx="2413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Key Characteristics:</a:t>
            </a:r>
            <a:endParaRPr lang="en-US"/>
          </a:p>
          <a:p>
            <a:pPr indent="0" algn="l">
              <a:lnSpc>
                <a:spcPct val="117000"/>
              </a:lnSpc>
            </a:pPr>
            <a:r>
              <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 Stateless Communication</a:t>
            </a:r>
            <a:br>
              <a:rPr lang="en-US"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 Platform Agnostic</a:t>
            </a:r>
            <a:endPar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1"/>
            </p:custDataLst>
          </p:nvPr>
        </p:nvSpPr>
        <p:spPr>
          <a:xfrm>
            <a:off x="1016000" y="5080000"/>
            <a:ext cx="2794000" cy="457200"/>
          </a:xfrm>
          <a:prstGeom prst="roundRect">
            <a:avLst>
              <a:gd name="adj" fmla="val 50000"/>
            </a:avLst>
          </a:prstGeom>
          <a:solidFill>
            <a:srgbClr val="E0F2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2"/>
            </p:custDataLst>
          </p:nvPr>
        </p:nvSpPr>
        <p:spPr>
          <a:xfrm>
            <a:off x="1016000" y="5080000"/>
            <a:ext cx="2794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Tech: HTTP / JSON / REST</a:t>
            </a:r>
            <a:endParaRPr lang="en-US" sz="1100"/>
          </a:p>
        </p:txBody>
      </p:sp>
      <p:sp>
        <p:nvSpPr>
          <p:cNvPr id="14" name="AutoShape 14"/>
          <p:cNvSpPr/>
          <p:nvPr>
            <p:custDataLst>
              <p:tags r:id="rId13"/>
            </p:custDataLst>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5" name="AutoShape 15"/>
          <p:cNvSpPr/>
          <p:nvPr>
            <p:custDataLst>
              <p:tags r:id="rId14"/>
            </p:custDataLst>
          </p:nvPr>
        </p:nvSpPr>
        <p:spPr>
          <a:xfrm>
            <a:off x="4445000" y="1778000"/>
            <a:ext cx="3302000" cy="889000"/>
          </a:xfrm>
          <a:prstGeom prst="roundRect">
            <a:avLst>
              <a:gd name="adj" fmla="val 17142"/>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5"/>
            </p:custDataLst>
          </p:nvPr>
        </p:nvSpPr>
        <p:spPr>
          <a:xfrm>
            <a:off x="4699000" y="1968500"/>
            <a:ext cx="508000" cy="5080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800600" y="2070100"/>
            <a:ext cx="304800" cy="304800"/>
          </a:xfrm>
          <a:prstGeom prst="rect">
            <a:avLst/>
          </a:prstGeom>
        </p:spPr>
      </p:pic>
      <p:sp>
        <p:nvSpPr>
          <p:cNvPr id="18" name="AutoShape 18"/>
          <p:cNvSpPr/>
          <p:nvPr>
            <p:custDataLst>
              <p:tags r:id="rId19"/>
            </p:custDataLst>
          </p:nvPr>
        </p:nvSpPr>
        <p:spPr>
          <a:xfrm>
            <a:off x="5397500" y="19304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Layer</a:t>
            </a:r>
            <a:endParaRPr lang="en-US" sz="1100"/>
          </a:p>
          <a:p>
            <a:pPr indent="0" algn="l">
              <a:lnSpc>
                <a:spcPct val="125000"/>
              </a:lnSpc>
            </a:pP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FastAPI Core Logic</a:t>
            </a:r>
            <a:endPar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20"/>
            </p:custDataLst>
          </p:nvPr>
        </p:nvSpPr>
        <p:spPr>
          <a:xfrm>
            <a:off x="4699000" y="2857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Acts as the central orchestrator, handling request validation, business logic execution, and dependency management.</a:t>
            </a:r>
            <a:endParaRPr lang="en-US" sz="1600"/>
          </a:p>
        </p:txBody>
      </p:sp>
      <p:sp>
        <p:nvSpPr>
          <p:cNvPr id="20" name="AutoShape 20"/>
          <p:cNvSpPr/>
          <p:nvPr>
            <p:custDataLst>
              <p:tags r:id="rId21"/>
            </p:custDataLst>
          </p:nvPr>
        </p:nvSpPr>
        <p:spPr>
          <a:xfrm>
            <a:off x="4699000" y="3746500"/>
            <a:ext cx="2794000" cy="1143000"/>
          </a:xfrm>
          <a:prstGeom prst="roundRect">
            <a:avLst>
              <a:gd name="adj" fmla="val 8888"/>
            </a:avLst>
          </a:prstGeom>
          <a:solidFill>
            <a:srgbClr val="F0F2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custDataLst>
              <p:tags r:id="rId22"/>
            </p:custDataLst>
          </p:nvPr>
        </p:nvSpPr>
        <p:spPr>
          <a:xfrm>
            <a:off x="4713605" y="3873500"/>
            <a:ext cx="275717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Modules:</a:t>
            </a:r>
            <a:endParaRPr lang="en-US"/>
          </a:p>
          <a:p>
            <a:pPr indent="0" algn="l">
              <a:lnSpc>
                <a:spcPct val="108000"/>
              </a:lnSpc>
            </a:pPr>
            <a:r>
              <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main.py | config.py | routers/ | schemas.py | deps.py</a:t>
            </a:r>
            <a:endPar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custDataLst>
              <p:tags r:id="rId23"/>
            </p:custDataLst>
          </p:nvPr>
        </p:nvSpPr>
        <p:spPr>
          <a:xfrm>
            <a:off x="4699000" y="5080000"/>
            <a:ext cx="2794000" cy="457200"/>
          </a:xfrm>
          <a:prstGeom prst="roundRect">
            <a:avLst>
              <a:gd name="adj" fmla="val 50000"/>
            </a:avLst>
          </a:prstGeom>
          <a:solidFill>
            <a:srgbClr val="E0F2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24"/>
            </p:custDataLst>
          </p:nvPr>
        </p:nvSpPr>
        <p:spPr>
          <a:xfrm>
            <a:off x="4699000" y="5080000"/>
            <a:ext cx="2794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Tech: FastAPI / Pydantic</a:t>
            </a:r>
            <a:endParaRPr lang="en-US" sz="1100"/>
          </a:p>
        </p:txBody>
      </p:sp>
      <p:sp>
        <p:nvSpPr>
          <p:cNvPr id="24" name="AutoShape 24"/>
          <p:cNvSpPr/>
          <p:nvPr>
            <p:custDataLst>
              <p:tags r:id="rId25"/>
            </p:custDataLst>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25" name="AutoShape 25"/>
          <p:cNvSpPr/>
          <p:nvPr>
            <p:custDataLst>
              <p:tags r:id="rId26"/>
            </p:custDataLst>
          </p:nvPr>
        </p:nvSpPr>
        <p:spPr>
          <a:xfrm>
            <a:off x="8128000" y="1778000"/>
            <a:ext cx="3302000" cy="889000"/>
          </a:xfrm>
          <a:prstGeom prst="roundRect">
            <a:avLst>
              <a:gd name="adj" fmla="val 17142"/>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custDataLst>
              <p:tags r:id="rId27"/>
            </p:custDataLst>
          </p:nvPr>
        </p:nvSpPr>
        <p:spPr>
          <a:xfrm>
            <a:off x="8382000" y="1968500"/>
            <a:ext cx="508000" cy="5080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483600" y="2070100"/>
            <a:ext cx="304800" cy="304800"/>
          </a:xfrm>
          <a:prstGeom prst="rect">
            <a:avLst/>
          </a:prstGeom>
        </p:spPr>
      </p:pic>
      <p:sp>
        <p:nvSpPr>
          <p:cNvPr id="28" name="AutoShape 28"/>
          <p:cNvSpPr/>
          <p:nvPr>
            <p:custDataLst>
              <p:tags r:id="rId31"/>
            </p:custDataLst>
          </p:nvPr>
        </p:nvSpPr>
        <p:spPr>
          <a:xfrm>
            <a:off x="9080500" y="19304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Persistence Layer</a:t>
            </a:r>
            <a:endParaRPr lang="en-US" sz="1100"/>
          </a:p>
          <a:p>
            <a:pPr indent="0" algn="l">
              <a:lnSpc>
                <a:spcPct val="125000"/>
              </a:lnSpc>
            </a:pP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ORM &amp; Data Storage</a:t>
            </a:r>
            <a:endPar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custDataLst>
              <p:tags r:id="rId32"/>
            </p:custDataLst>
          </p:nvPr>
        </p:nvSpPr>
        <p:spPr>
          <a:xfrm>
            <a:off x="8382000" y="2857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Encapsulates all database interactions. Provides a clean, abstract interface for data access and manipulation.</a:t>
            </a:r>
            <a:endParaRPr lang="en-US" sz="1600"/>
          </a:p>
        </p:txBody>
      </p:sp>
      <p:sp>
        <p:nvSpPr>
          <p:cNvPr id="30" name="AutoShape 30"/>
          <p:cNvSpPr/>
          <p:nvPr>
            <p:custDataLst>
              <p:tags r:id="rId33"/>
            </p:custDataLst>
          </p:nvPr>
        </p:nvSpPr>
        <p:spPr>
          <a:xfrm>
            <a:off x="8382000" y="3746500"/>
            <a:ext cx="2794000" cy="1143000"/>
          </a:xfrm>
          <a:prstGeom prst="roundRect">
            <a:avLst>
              <a:gd name="adj" fmla="val 8888"/>
            </a:avLst>
          </a:prstGeom>
          <a:solidFill>
            <a:srgbClr val="F0F2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custDataLst>
              <p:tags r:id="rId34"/>
            </p:custDataLst>
          </p:nvPr>
        </p:nvSpPr>
        <p:spPr>
          <a:xfrm>
            <a:off x="8381365" y="3873500"/>
            <a:ext cx="275336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Modules:</a:t>
            </a:r>
            <a:endParaRPr lang="en-US"/>
          </a:p>
          <a:p>
            <a:pPr indent="0" algn="l">
              <a:lnSpc>
                <a:spcPct val="108000"/>
              </a:lnSpc>
            </a:pPr>
            <a:r>
              <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database.py | models.py | crud.py </a:t>
            </a:r>
            <a:endPar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custDataLst>
              <p:tags r:id="rId35"/>
            </p:custDataLst>
          </p:nvPr>
        </p:nvSpPr>
        <p:spPr>
          <a:xfrm>
            <a:off x="8382000" y="5080000"/>
            <a:ext cx="2794000" cy="457200"/>
          </a:xfrm>
          <a:prstGeom prst="roundRect">
            <a:avLst>
              <a:gd name="adj" fmla="val 50000"/>
            </a:avLst>
          </a:prstGeom>
          <a:solidFill>
            <a:srgbClr val="E0F2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custDataLst>
              <p:tags r:id="rId36"/>
            </p:custDataLst>
          </p:nvPr>
        </p:nvSpPr>
        <p:spPr>
          <a:xfrm>
            <a:off x="8382000" y="5080000"/>
            <a:ext cx="2794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Tech: SQLAlchemy 2.x / SQLite</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 Principles Ensure Maintainability and Consistency</a:t>
            </a:r>
            <a:endParaRPr lang="en-US" sz="1100"/>
          </a:p>
        </p:txBody>
      </p:sp>
      <p:sp>
        <p:nvSpPr>
          <p:cNvPr id="3" name="AutoShape 3"/>
          <p:cNvSpPr/>
          <p:nvPr/>
        </p:nvSpPr>
        <p:spPr>
          <a:xfrm>
            <a:off x="762000" y="1168400"/>
            <a:ext cx="1066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Key Design Principles for Robust Architecture</a:t>
            </a:r>
            <a:endParaRPr lang="en-US" sz="1100"/>
          </a:p>
        </p:txBody>
      </p:sp>
      <p:sp>
        <p:nvSpPr>
          <p:cNvPr id="4" name="AutoShape 4"/>
          <p:cNvSpPr/>
          <p:nvPr/>
        </p:nvSpPr>
        <p:spPr>
          <a:xfrm>
            <a:off x="762000" y="1905000"/>
            <a:ext cx="2540000" cy="4191000"/>
          </a:xfrm>
          <a:prstGeom prst="roundRect">
            <a:avLst>
              <a:gd name="adj" fmla="val 6000"/>
            </a:avLst>
          </a:prstGeom>
          <a:solidFill>
            <a:srgbClr val="FFFFFF">
              <a:alpha val="100000"/>
            </a:srgbClr>
          </a:solidFill>
          <a:ln w="25400" cap="flat" cmpd="sng">
            <a:noFill/>
            <a:prstDash val="solid"/>
            <a:round/>
          </a:ln>
          <a:effectLst>
            <a:outerShdw blurRad="203200" dist="50800" dir="2700000" algn="tl" rotWithShape="0">
              <a:srgbClr val="000000">
                <a:alpha val="7000"/>
              </a:srgbClr>
            </a:outerShdw>
          </a:effectLst>
        </p:spPr>
        <p:txBody>
          <a:bodyPr vert="horz" wrap="square" lIns="63500" tIns="63500" rIns="63500" bIns="63500" rtlCol="0" anchor="ctr"/>
          <a:lstStyle/>
          <a:p>
            <a:pPr algn="ctr">
              <a:defRPr/>
            </a:pPr>
          </a:p>
        </p:txBody>
      </p:sp>
      <p:sp>
        <p:nvSpPr>
          <p:cNvPr id="5" name="AutoShape 5"/>
          <p:cNvSpPr/>
          <p:nvPr/>
        </p:nvSpPr>
        <p:spPr>
          <a:xfrm>
            <a:off x="1727200" y="2286000"/>
            <a:ext cx="609600" cy="6096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54200" y="2413000"/>
            <a:ext cx="355600" cy="355600"/>
          </a:xfrm>
          <a:prstGeom prst="rect">
            <a:avLst/>
          </a:prstGeom>
        </p:spPr>
      </p:pic>
      <p:sp>
        <p:nvSpPr>
          <p:cNvPr id="7" name="AutoShape 7"/>
          <p:cNvSpPr/>
          <p:nvPr/>
        </p:nvSpPr>
        <p:spPr>
          <a:xfrm>
            <a:off x="952500" y="3175000"/>
            <a:ext cx="215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Separation of Concerns</a:t>
            </a:r>
            <a:endParaRPr lang="en-US" sz="1600"/>
          </a:p>
        </p:txBody>
      </p:sp>
      <p:sp>
        <p:nvSpPr>
          <p:cNvPr id="8" name="AutoShape 8" descr="7b0a202020202262756c6c6574223a20227b5c2263617465676f727949645c223a5c225c222c5c2274656d706c61746549645c223a32303233313731337d220a7d0a"/>
          <p:cNvSpPr/>
          <p:nvPr/>
        </p:nvSpPr>
        <p:spPr>
          <a:xfrm>
            <a:off x="762000" y="3937000"/>
            <a:ext cx="2349500" cy="2158365"/>
          </a:xfrm>
          <a:prstGeom prst="rect">
            <a:avLst/>
          </a:prstGeom>
          <a:noFill/>
          <a:ln w="12700" cap="flat" cmpd="sng">
            <a:noFill/>
            <a:prstDash val="solid"/>
            <a:round/>
          </a:ln>
        </p:spPr>
        <p:txBody>
          <a:bodyPr vert="horz" wrap="square" lIns="0" tIns="0" rIns="0" bIns="0" rtlCol="0" anchor="t" anchorCtr="0"/>
          <a:lstStyle/>
          <a:p>
            <a:pPr indent="0" algn="l">
              <a:lnSpc>
                <a:spcPct val="117000"/>
              </a:lnSpc>
              <a:buBlip>
                <a:blip r:embed="rId3">
                  <a:extLst>
                    <a:ext uri="{96DAC541-7B7A-43D3-8B79-37D633B846F1}">
                      <asvg:svgBlip xmlns:asvg="http://schemas.microsoft.com/office/drawing/2016/SVG/main" r:embed="rId4"/>
                    </a:ext>
                  </a:extLst>
                </a:blip>
              </a:buBlip>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The routing layer handles HTTP, </a:t>
            </a:r>
            <a:endPar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buBlip>
                <a:blip r:embed="rId3">
                  <a:extLst>
                    <a:ext uri="{96DAC541-7B7A-43D3-8B79-37D633B846F1}">
                      <asvg:svgBlip xmlns:asvg="http://schemas.microsoft.com/office/drawing/2016/SVG/main" r:embed="rId4"/>
                    </a:ext>
                  </a:extLst>
                </a:blip>
              </a:buBlip>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CRUD layer is database-agnostic, </a:t>
            </a:r>
            <a:endPar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buBlip>
                <a:blip r:embed="rId3">
                  <a:extLst>
                    <a:ext uri="{96DAC541-7B7A-43D3-8B79-37D633B846F1}">
                      <asvg:svgBlip xmlns:asvg="http://schemas.microsoft.com/office/drawing/2016/SVG/main" r:embed="rId4"/>
                    </a:ext>
                  </a:extLst>
                </a:blip>
              </a:buBlip>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allowing independent testing and reusability.</a:t>
            </a:r>
            <a:endParaRPr lang="en-US" sz="1600"/>
          </a:p>
        </p:txBody>
      </p:sp>
      <p:sp>
        <p:nvSpPr>
          <p:cNvPr id="9" name="AutoShape 9"/>
          <p:cNvSpPr/>
          <p:nvPr/>
        </p:nvSpPr>
        <p:spPr>
          <a:xfrm>
            <a:off x="3556000" y="1905000"/>
            <a:ext cx="2540000" cy="4191000"/>
          </a:xfrm>
          <a:prstGeom prst="roundRect">
            <a:avLst>
              <a:gd name="adj" fmla="val 6000"/>
            </a:avLst>
          </a:prstGeom>
          <a:solidFill>
            <a:srgbClr val="FFFFFF">
              <a:alpha val="100000"/>
            </a:srgbClr>
          </a:solidFill>
          <a:ln w="25400" cap="flat" cmpd="sng">
            <a:noFill/>
            <a:prstDash val="solid"/>
            <a:round/>
          </a:ln>
          <a:effectLst>
            <a:outerShdw blurRad="203200" dist="50800" dir="2700000" algn="tl" rotWithShape="0">
              <a:srgbClr val="000000">
                <a:alpha val="7000"/>
              </a:srgbClr>
            </a:outerShdw>
          </a:effectLst>
        </p:spPr>
        <p:txBody>
          <a:bodyPr vert="horz" wrap="square" lIns="63500" tIns="63500" rIns="63500" bIns="63500" rtlCol="0" anchor="ctr"/>
          <a:lstStyle/>
          <a:p>
            <a:pPr algn="ctr">
              <a:defRPr/>
            </a:pPr>
          </a:p>
        </p:txBody>
      </p:sp>
      <p:sp>
        <p:nvSpPr>
          <p:cNvPr id="10" name="AutoShape 10"/>
          <p:cNvSpPr/>
          <p:nvPr/>
        </p:nvSpPr>
        <p:spPr>
          <a:xfrm>
            <a:off x="4521200" y="2286000"/>
            <a:ext cx="609600" cy="6096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48200" y="2413000"/>
            <a:ext cx="355600" cy="355600"/>
          </a:xfrm>
          <a:prstGeom prst="rect">
            <a:avLst/>
          </a:prstGeom>
        </p:spPr>
      </p:pic>
      <p:sp>
        <p:nvSpPr>
          <p:cNvPr id="12" name="AutoShape 12"/>
          <p:cNvSpPr/>
          <p:nvPr/>
        </p:nvSpPr>
        <p:spPr>
          <a:xfrm>
            <a:off x="3746500" y="3175000"/>
            <a:ext cx="215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Decoupling for Maintainability</a:t>
            </a:r>
            <a:endParaRPr lang="en-US" sz="1600"/>
          </a:p>
        </p:txBody>
      </p:sp>
      <p:sp>
        <p:nvSpPr>
          <p:cNvPr id="13" name="AutoShape 13" descr="7b0a202020202262756c6c6574223a20227b5c2263617465676f727949645c223a5c225c222c5c2274656d706c61746549645c223a32303233313731337d220a7d0a"/>
          <p:cNvSpPr/>
          <p:nvPr/>
        </p:nvSpPr>
        <p:spPr>
          <a:xfrm>
            <a:off x="3628390" y="3937000"/>
            <a:ext cx="2277110" cy="2066290"/>
          </a:xfrm>
          <a:prstGeom prst="rect">
            <a:avLst/>
          </a:prstGeom>
          <a:noFill/>
          <a:ln w="12700" cap="flat" cmpd="sng">
            <a:noFill/>
            <a:prstDash val="solid"/>
            <a:round/>
          </a:ln>
        </p:spPr>
        <p:txBody>
          <a:bodyPr vert="horz" wrap="square" lIns="0" tIns="0" rIns="0" bIns="0" rtlCol="0" anchor="t" anchorCtr="0"/>
          <a:lstStyle/>
          <a:p>
            <a:pPr indent="0" algn="l">
              <a:lnSpc>
                <a:spcPct val="117000"/>
              </a:lnSpc>
              <a:buBlip>
                <a:blip r:embed="rId3">
                  <a:extLst>
                    <a:ext uri="{96DAC541-7B7A-43D3-8B79-37D633B846F1}">
                      <asvg:svgBlip xmlns:asvg="http://schemas.microsoft.com/office/drawing/2016/SVG/main" r:embed="rId4"/>
                    </a:ext>
                  </a:extLst>
                </a:blip>
              </a:buBlip>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Dependencies are injected to reduce tight coupling. </a:t>
            </a:r>
            <a:endPar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buBlip>
                <a:blip r:embed="rId3">
                  <a:extLst>
                    <a:ext uri="{96DAC541-7B7A-43D3-8B79-37D633B846F1}">
                      <asvg:svgBlip xmlns:asvg="http://schemas.microsoft.com/office/drawing/2016/SVG/main" r:embed="rId4"/>
                    </a:ext>
                  </a:extLst>
                </a:blip>
              </a:buBlip>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API versioning  </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/api/v1/ </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enables future evolution without breaking existing clients.</a:t>
            </a:r>
            <a:endParaRPr lang="en-US" sz="1600"/>
          </a:p>
        </p:txBody>
      </p:sp>
      <p:sp>
        <p:nvSpPr>
          <p:cNvPr id="14" name="AutoShape 14"/>
          <p:cNvSpPr/>
          <p:nvPr/>
        </p:nvSpPr>
        <p:spPr>
          <a:xfrm>
            <a:off x="6350000" y="1905000"/>
            <a:ext cx="2540000" cy="4191000"/>
          </a:xfrm>
          <a:prstGeom prst="roundRect">
            <a:avLst>
              <a:gd name="adj" fmla="val 6000"/>
            </a:avLst>
          </a:prstGeom>
          <a:solidFill>
            <a:srgbClr val="FFFFFF">
              <a:alpha val="100000"/>
            </a:srgbClr>
          </a:solidFill>
          <a:ln w="25400" cap="flat" cmpd="sng">
            <a:noFill/>
            <a:prstDash val="solid"/>
            <a:round/>
          </a:ln>
          <a:effectLst>
            <a:outerShdw blurRad="203200" dist="50800" dir="2700000" algn="tl" rotWithShape="0">
              <a:srgbClr val="000000">
                <a:alpha val="7000"/>
              </a:srgbClr>
            </a:outerShdw>
          </a:effectLst>
        </p:spPr>
        <p:txBody>
          <a:bodyPr vert="horz" wrap="square" lIns="63500" tIns="63500" rIns="63500" bIns="63500" rtlCol="0" anchor="ctr"/>
          <a:lstStyle/>
          <a:p>
            <a:pPr algn="ctr">
              <a:defRPr/>
            </a:pPr>
          </a:p>
        </p:txBody>
      </p:sp>
      <p:sp>
        <p:nvSpPr>
          <p:cNvPr id="15" name="AutoShape 15"/>
          <p:cNvSpPr/>
          <p:nvPr/>
        </p:nvSpPr>
        <p:spPr>
          <a:xfrm>
            <a:off x="7315200" y="2286000"/>
            <a:ext cx="609600" cy="6096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42200" y="2413000"/>
            <a:ext cx="355600" cy="355600"/>
          </a:xfrm>
          <a:prstGeom prst="rect">
            <a:avLst/>
          </a:prstGeom>
        </p:spPr>
      </p:pic>
      <p:sp>
        <p:nvSpPr>
          <p:cNvPr id="17" name="AutoShape 17"/>
          <p:cNvSpPr/>
          <p:nvPr/>
        </p:nvSpPr>
        <p:spPr>
          <a:xfrm>
            <a:off x="6540500" y="3175000"/>
            <a:ext cx="215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OpenAPI-First Design</a:t>
            </a:r>
            <a:endParaRPr lang="en-US" sz="1600"/>
          </a:p>
        </p:txBody>
      </p:sp>
      <p:sp>
        <p:nvSpPr>
          <p:cNvPr id="18" name="AutoShape 18"/>
          <p:cNvSpPr/>
          <p:nvPr/>
        </p:nvSpPr>
        <p:spPr>
          <a:xfrm>
            <a:off x="6499860" y="3810000"/>
            <a:ext cx="2163445"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FastAPI's automatic OpenAPI generation drastically reduces documentation overhead and ensures 100% consistency between docs and implementation.</a:t>
            </a:r>
            <a:endPar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9144000" y="1905000"/>
            <a:ext cx="2540000" cy="4191000"/>
          </a:xfrm>
          <a:prstGeom prst="roundRect">
            <a:avLst>
              <a:gd name="adj" fmla="val 6000"/>
            </a:avLst>
          </a:prstGeom>
          <a:solidFill>
            <a:srgbClr val="FFFFFF">
              <a:alpha val="100000"/>
            </a:srgbClr>
          </a:solidFill>
          <a:ln w="25400" cap="flat" cmpd="sng">
            <a:noFill/>
            <a:prstDash val="solid"/>
            <a:round/>
          </a:ln>
          <a:effectLst>
            <a:outerShdw blurRad="203200" dist="50800" dir="2700000" algn="tl" rotWithShape="0">
              <a:srgbClr val="000000">
                <a:alpha val="7000"/>
              </a:srgbClr>
            </a:outerShdw>
          </a:effectLst>
        </p:spPr>
        <p:txBody>
          <a:bodyPr vert="horz" wrap="square" lIns="63500" tIns="63500" rIns="63500" bIns="63500" rtlCol="0" anchor="ctr"/>
          <a:lstStyle/>
          <a:p>
            <a:pPr algn="ctr">
              <a:defRPr/>
            </a:pPr>
          </a:p>
        </p:txBody>
      </p:sp>
      <p:sp>
        <p:nvSpPr>
          <p:cNvPr id="20" name="AutoShape 20"/>
          <p:cNvSpPr/>
          <p:nvPr/>
        </p:nvSpPr>
        <p:spPr>
          <a:xfrm>
            <a:off x="10109200" y="2286000"/>
            <a:ext cx="609600" cy="6096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36200" y="2413000"/>
            <a:ext cx="355600" cy="355600"/>
          </a:xfrm>
          <a:prstGeom prst="rect">
            <a:avLst/>
          </a:prstGeom>
        </p:spPr>
      </p:pic>
      <p:sp>
        <p:nvSpPr>
          <p:cNvPr id="22" name="AutoShape 22"/>
          <p:cNvSpPr/>
          <p:nvPr/>
        </p:nvSpPr>
        <p:spPr>
          <a:xfrm>
            <a:off x="9334500" y="3175000"/>
            <a:ext cx="215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Validation at the Boundary</a:t>
            </a:r>
            <a:endParaRPr lang="en-US" sz="1600"/>
          </a:p>
        </p:txBody>
      </p:sp>
      <p:sp>
        <p:nvSpPr>
          <p:cNvPr id="23" name="AutoShape 23"/>
          <p:cNvSpPr/>
          <p:nvPr/>
        </p:nvSpPr>
        <p:spPr>
          <a:xfrm>
            <a:off x="9334500" y="3937000"/>
            <a:ext cx="21590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Pydantic models validate all incoming data at the API boundary. This prevents invalid writes to the database and ensures strict data integrity.</a:t>
            </a:r>
            <a:endParaRPr 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 Modern, Synergistic Technology Stack</a:t>
            </a:r>
            <a:endParaRPr lang="en-US" sz="1100"/>
          </a:p>
        </p:txBody>
      </p:sp>
      <p:sp>
        <p:nvSpPr>
          <p:cNvPr id="3" name="AutoShape 3"/>
          <p:cNvSpPr/>
          <p:nvPr/>
        </p:nvSpPr>
        <p:spPr>
          <a:xfrm>
            <a:off x="762000" y="11684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Technology Stack &amp; Rationale</a:t>
            </a:r>
            <a:endParaRPr lang="en-US" sz="1100"/>
          </a:p>
        </p:txBody>
      </p:sp>
      <p:sp>
        <p:nvSpPr>
          <p:cNvPr id="4" name="AutoShape 4"/>
          <p:cNvSpPr/>
          <p:nvPr>
            <p:custDataLst>
              <p:tags r:id="rId1"/>
            </p:custDataLst>
          </p:nvPr>
        </p:nvSpPr>
        <p:spPr>
          <a:xfrm>
            <a:off x="762000" y="1778000"/>
            <a:ext cx="3302000" cy="4318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1016000" y="2032000"/>
            <a:ext cx="812800" cy="812800"/>
          </a:xfrm>
          <a:prstGeom prst="ellipse">
            <a:avLst/>
          </a:prstGeom>
          <a:solidFill>
            <a:srgbClr val="4A6B8A">
              <a:alpha val="8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19200" y="2235200"/>
            <a:ext cx="406400" cy="406400"/>
          </a:xfrm>
          <a:prstGeom prst="rect">
            <a:avLst/>
          </a:prstGeom>
        </p:spPr>
      </p:pic>
      <p:sp>
        <p:nvSpPr>
          <p:cNvPr id="7" name="AutoShape 7"/>
          <p:cNvSpPr/>
          <p:nvPr>
            <p:custDataLst>
              <p:tags r:id="rId6"/>
            </p:custDataLst>
          </p:nvPr>
        </p:nvSpPr>
        <p:spPr>
          <a:xfrm>
            <a:off x="1016000" y="30480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LANGUAGE &amp; FRAMEWORK</a:t>
            </a:r>
            <a:endParaRPr lang="en-US" sz="1100"/>
          </a:p>
        </p:txBody>
      </p:sp>
      <p:sp>
        <p:nvSpPr>
          <p:cNvPr id="8" name="AutoShape 8"/>
          <p:cNvSpPr/>
          <p:nvPr>
            <p:custDataLst>
              <p:tags r:id="rId7"/>
            </p:custDataLst>
          </p:nvPr>
        </p:nvSpPr>
        <p:spPr>
          <a:xfrm>
            <a:off x="1016000" y="3429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3 &amp; FastAPI</a:t>
            </a:r>
            <a:endParaRPr lang="en-US" sz="1100"/>
          </a:p>
        </p:txBody>
      </p:sp>
      <p:sp>
        <p:nvSpPr>
          <p:cNvPr id="9" name="AutoShape 9"/>
          <p:cNvSpPr/>
          <p:nvPr>
            <p:custDataLst>
              <p:tags r:id="rId8"/>
            </p:custDataLst>
          </p:nvPr>
        </p:nvSpPr>
        <p:spPr>
          <a:xfrm>
            <a:off x="1016000" y="4064000"/>
            <a:ext cx="2794000" cy="12700"/>
          </a:xfrm>
          <a:prstGeom prst="roundRect">
            <a:avLst>
              <a:gd name="adj" fmla="val 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descr="7b0a202020202262756c6c6574223a20227b5c2263617465676f727949645c223a5c225c222c5c2274656d706c61746549645c223a32303233313636357d220a7d0a"/>
          <p:cNvSpPr/>
          <p:nvPr>
            <p:custDataLst>
              <p:tags r:id="rId9"/>
            </p:custDataLst>
          </p:nvPr>
        </p:nvSpPr>
        <p:spPr>
          <a:xfrm>
            <a:off x="762000" y="4169410"/>
            <a:ext cx="3310890" cy="1661795"/>
          </a:xfrm>
          <a:prstGeom prst="rect">
            <a:avLst/>
          </a:prstGeom>
          <a:noFill/>
          <a:ln w="12700" cap="flat" cmpd="sng">
            <a:noFill/>
            <a:prstDash val="solid"/>
            <a:round/>
          </a:ln>
        </p:spPr>
        <p:txBody>
          <a:bodyPr vert="horz" wrap="square" lIns="0" tIns="0" rIns="0" bIns="0" rtlCol="0" anchor="t" anchorCtr="0"/>
          <a:lstStyle/>
          <a:p>
            <a:pPr indent="0" algn="l">
              <a:lnSpc>
                <a:spcPct val="125000"/>
              </a:lnSpc>
              <a:buBlip>
                <a:blip r:embed="rId10">
                  <a:extLst>
                    <a:ext uri="{96DAC541-7B7A-43D3-8B79-37D633B846F1}">
                      <asvg:svgBlip xmlns:asvg="http://schemas.microsoft.com/office/drawing/2016/SVG/main" r:embed="rId11"/>
                    </a:ext>
                  </a:extLst>
                </a:blip>
              </a:buBlip>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Enables rapid development with readable code. </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buBlip>
                <a:blip r:embed="rId10">
                  <a:extLst>
                    <a:ext uri="{96DAC541-7B7A-43D3-8B79-37D633B846F1}">
                      <asvg:svgBlip xmlns:asvg="http://schemas.microsoft.com/office/drawing/2016/SVG/main" r:embed="rId11"/>
                    </a:ext>
                  </a:extLst>
                </a:blip>
              </a:buBlip>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FastAPI's auto-generated OpenAPI docs and Pydantic integration significantly reduce boilerplate and ensure data integrity.</a:t>
            </a:r>
            <a:endParaRPr lang="en-US" sz="1600"/>
          </a:p>
        </p:txBody>
      </p:sp>
      <p:sp>
        <p:nvSpPr>
          <p:cNvPr id="11" name="AutoShape 11"/>
          <p:cNvSpPr/>
          <p:nvPr>
            <p:custDataLst>
              <p:tags r:id="rId12"/>
            </p:custDataLst>
          </p:nvPr>
        </p:nvSpPr>
        <p:spPr>
          <a:xfrm>
            <a:off x="4445000" y="1778000"/>
            <a:ext cx="3302000" cy="4318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12"/>
          <p:cNvSpPr/>
          <p:nvPr>
            <p:custDataLst>
              <p:tags r:id="rId13"/>
            </p:custDataLst>
          </p:nvPr>
        </p:nvSpPr>
        <p:spPr>
          <a:xfrm>
            <a:off x="4699000" y="2032000"/>
            <a:ext cx="812800" cy="812800"/>
          </a:xfrm>
          <a:prstGeom prst="ellipse">
            <a:avLst/>
          </a:prstGeom>
          <a:solidFill>
            <a:srgbClr val="4A6B8A">
              <a:alpha val="8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902200" y="2235200"/>
            <a:ext cx="406400" cy="406400"/>
          </a:xfrm>
          <a:prstGeom prst="rect">
            <a:avLst/>
          </a:prstGeom>
        </p:spPr>
      </p:pic>
      <p:sp>
        <p:nvSpPr>
          <p:cNvPr id="14" name="AutoShape 14"/>
          <p:cNvSpPr/>
          <p:nvPr>
            <p:custDataLst>
              <p:tags r:id="rId17"/>
            </p:custDataLst>
          </p:nvPr>
        </p:nvSpPr>
        <p:spPr>
          <a:xfrm>
            <a:off x="4699000" y="30480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PERSISTENCE</a:t>
            </a:r>
            <a:endParaRPr lang="en-US" sz="1100"/>
          </a:p>
        </p:txBody>
      </p:sp>
      <p:sp>
        <p:nvSpPr>
          <p:cNvPr id="15" name="AutoShape 15"/>
          <p:cNvSpPr/>
          <p:nvPr>
            <p:custDataLst>
              <p:tags r:id="rId18"/>
            </p:custDataLst>
          </p:nvPr>
        </p:nvSpPr>
        <p:spPr>
          <a:xfrm>
            <a:off x="4699000" y="3429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SQLAlchemy 2.x &amp; SQLite</a:t>
            </a:r>
            <a:endParaRPr lang="en-US" sz="1100"/>
          </a:p>
        </p:txBody>
      </p:sp>
      <p:sp>
        <p:nvSpPr>
          <p:cNvPr id="16" name="AutoShape 16"/>
          <p:cNvSpPr/>
          <p:nvPr>
            <p:custDataLst>
              <p:tags r:id="rId19"/>
            </p:custDataLst>
          </p:nvPr>
        </p:nvSpPr>
        <p:spPr>
          <a:xfrm>
            <a:off x="4699000" y="4064000"/>
            <a:ext cx="2794000" cy="12700"/>
          </a:xfrm>
          <a:prstGeom prst="roundRect">
            <a:avLst>
              <a:gd name="adj" fmla="val 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descr="7b0a202020202262756c6c6574223a20227b5c2263617465676f727949645c223a5c225c222c5c2274656d706c61746549645c223a32303233313636357d220a7d0a"/>
          <p:cNvSpPr/>
          <p:nvPr>
            <p:custDataLst>
              <p:tags r:id="rId20"/>
            </p:custDataLst>
          </p:nvPr>
        </p:nvSpPr>
        <p:spPr>
          <a:xfrm>
            <a:off x="4514215" y="4210685"/>
            <a:ext cx="3162935" cy="1885315"/>
          </a:xfrm>
          <a:prstGeom prst="rect">
            <a:avLst/>
          </a:prstGeom>
          <a:noFill/>
          <a:ln w="12700" cap="flat" cmpd="sng">
            <a:noFill/>
            <a:prstDash val="solid"/>
            <a:round/>
          </a:ln>
        </p:spPr>
        <p:txBody>
          <a:bodyPr vert="horz" wrap="square" lIns="0" tIns="0" rIns="0" bIns="0" rtlCol="0" anchor="t" anchorCtr="0"/>
          <a:lstStyle/>
          <a:p>
            <a:pPr indent="0" algn="l">
              <a:lnSpc>
                <a:spcPct val="125000"/>
              </a:lnSpc>
              <a:buBlip>
                <a:blip r:embed="rId10">
                  <a:extLst>
                    <a:ext uri="{96DAC541-7B7A-43D3-8B79-37D633B846F1}">
                      <asvg:svgBlip xmlns:asvg="http://schemas.microsoft.com/office/drawing/2016/SVG/main" r:embed="rId11"/>
                    </a:ext>
                  </a:extLst>
                </a:blip>
              </a:buBlip>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 powerful ORM that abstracts database specifics, allowing for easy migration. </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buBlip>
                <a:blip r:embed="rId10">
                  <a:extLst>
                    <a:ext uri="{96DAC541-7B7A-43D3-8B79-37D633B846F1}">
                      <asvg:svgBlip xmlns:asvg="http://schemas.microsoft.com/office/drawing/2016/SVG/main" r:embed="rId11"/>
                    </a:ext>
                  </a:extLst>
                </a:blip>
              </a:buBlip>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SQLite is ideal for development due to its low operational overhead and file-based simplicity.</a:t>
            </a:r>
            <a:endParaRPr lang="en-US" sz="1600"/>
          </a:p>
        </p:txBody>
      </p:sp>
      <p:sp>
        <p:nvSpPr>
          <p:cNvPr id="18" name="AutoShape 18"/>
          <p:cNvSpPr/>
          <p:nvPr>
            <p:custDataLst>
              <p:tags r:id="rId21"/>
            </p:custDataLst>
          </p:nvPr>
        </p:nvSpPr>
        <p:spPr>
          <a:xfrm>
            <a:off x="8128000" y="1778000"/>
            <a:ext cx="3302000" cy="4318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9" name="AutoShape 19"/>
          <p:cNvSpPr/>
          <p:nvPr>
            <p:custDataLst>
              <p:tags r:id="rId22"/>
            </p:custDataLst>
          </p:nvPr>
        </p:nvSpPr>
        <p:spPr>
          <a:xfrm>
            <a:off x="8382000" y="2032000"/>
            <a:ext cx="812800" cy="812800"/>
          </a:xfrm>
          <a:prstGeom prst="ellipse">
            <a:avLst/>
          </a:prstGeom>
          <a:solidFill>
            <a:srgbClr val="4A6B8A">
              <a:alpha val="8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585200" y="2235200"/>
            <a:ext cx="406400" cy="406400"/>
          </a:xfrm>
          <a:prstGeom prst="rect">
            <a:avLst/>
          </a:prstGeom>
        </p:spPr>
      </p:pic>
      <p:sp>
        <p:nvSpPr>
          <p:cNvPr id="21" name="AutoShape 21"/>
          <p:cNvSpPr/>
          <p:nvPr>
            <p:custDataLst>
              <p:tags r:id="rId26"/>
            </p:custDataLst>
          </p:nvPr>
        </p:nvSpPr>
        <p:spPr>
          <a:xfrm>
            <a:off x="8382000" y="30480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SERVER &amp; VALIDATION</a:t>
            </a:r>
            <a:endParaRPr lang="en-US" sz="1100"/>
          </a:p>
        </p:txBody>
      </p:sp>
      <p:sp>
        <p:nvSpPr>
          <p:cNvPr id="22" name="AutoShape 22"/>
          <p:cNvSpPr/>
          <p:nvPr>
            <p:custDataLst>
              <p:tags r:id="rId27"/>
            </p:custDataLst>
          </p:nvPr>
        </p:nvSpPr>
        <p:spPr>
          <a:xfrm>
            <a:off x="8382000" y="3429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Uvicorn &amp; Pydantic</a:t>
            </a:r>
            <a:endParaRPr lang="en-US" sz="1100"/>
          </a:p>
        </p:txBody>
      </p:sp>
      <p:sp>
        <p:nvSpPr>
          <p:cNvPr id="23" name="AutoShape 23"/>
          <p:cNvSpPr/>
          <p:nvPr>
            <p:custDataLst>
              <p:tags r:id="rId28"/>
            </p:custDataLst>
          </p:nvPr>
        </p:nvSpPr>
        <p:spPr>
          <a:xfrm>
            <a:off x="8382000" y="4064000"/>
            <a:ext cx="2794000" cy="12700"/>
          </a:xfrm>
          <a:prstGeom prst="roundRect">
            <a:avLst>
              <a:gd name="adj" fmla="val 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descr="7b0a202020202262756c6c6574223a20227b5c2263617465676f727949645c223a5c225c222c5c2274656d706c61746549645c223a32303233313636357d220a7d0a"/>
          <p:cNvSpPr/>
          <p:nvPr>
            <p:custDataLst>
              <p:tags r:id="rId29"/>
            </p:custDataLst>
          </p:nvPr>
        </p:nvSpPr>
        <p:spPr>
          <a:xfrm>
            <a:off x="8268970" y="4210685"/>
            <a:ext cx="2794000" cy="1797050"/>
          </a:xfrm>
          <a:prstGeom prst="rect">
            <a:avLst/>
          </a:prstGeom>
          <a:noFill/>
          <a:ln w="12700" cap="flat" cmpd="sng">
            <a:noFill/>
            <a:prstDash val="solid"/>
            <a:round/>
          </a:ln>
        </p:spPr>
        <p:txBody>
          <a:bodyPr vert="horz" wrap="square" lIns="0" tIns="0" rIns="0" bIns="0" rtlCol="0" anchor="t" anchorCtr="0"/>
          <a:lstStyle/>
          <a:p>
            <a:pPr indent="0" algn="l">
              <a:lnSpc>
                <a:spcPct val="125000"/>
              </a:lnSpc>
              <a:buBlip>
                <a:blip r:embed="rId10">
                  <a:extLst>
                    <a:ext uri="{96DAC541-7B7A-43D3-8B79-37D633B846F1}">
                      <asvg:svgBlip xmlns:asvg="http://schemas.microsoft.com/office/drawing/2016/SVG/main" r:embed="rId11"/>
                    </a:ext>
                  </a:extLst>
                </a:blip>
              </a:buBlip>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Uvicorn is a lightning-fast ASGI server for running the FastAPI app. </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buBlip>
                <a:blip r:embed="rId10">
                  <a:extLst>
                    <a:ext uri="{96DAC541-7B7A-43D3-8B79-37D633B846F1}">
                      <asvg:svgBlip xmlns:asvg="http://schemas.microsoft.com/office/drawing/2016/SVG/main" r:embed="rId11"/>
                    </a:ext>
                  </a:extLst>
                </a:blip>
              </a:buBlip>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Pydantic ensures robust validation of both request data and application settings.</a:t>
            </a:r>
            <a:endParaRPr lang="en-U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 Simple Yet Effective Data Model for Books</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Model: The  books  Table Structure</a:t>
            </a:r>
            <a:endParaRPr lang="en-US" sz="1100"/>
          </a:p>
        </p:txBody>
      </p:sp>
      <p:sp>
        <p:nvSpPr>
          <p:cNvPr id="4" name="AutoShape 4"/>
          <p:cNvSpPr/>
          <p:nvPr/>
        </p:nvSpPr>
        <p:spPr>
          <a:xfrm>
            <a:off x="762000" y="1778000"/>
            <a:ext cx="10668000" cy="3937000"/>
          </a:xfrm>
          <a:prstGeom prst="roundRect">
            <a:avLst>
              <a:gd name="adj" fmla="val 3225"/>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62000" y="1778000"/>
            <a:ext cx="10668000" cy="558800"/>
          </a:xfrm>
          <a:prstGeom prst="roundRect">
            <a:avLst>
              <a:gd name="adj" fmla="val 22727"/>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79600"/>
            <a:ext cx="190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Attribute Name</a:t>
            </a:r>
            <a:endParaRPr lang="en-US" sz="1100"/>
          </a:p>
        </p:txBody>
      </p:sp>
      <p:sp>
        <p:nvSpPr>
          <p:cNvPr id="7" name="AutoShape 7"/>
          <p:cNvSpPr/>
          <p:nvPr/>
        </p:nvSpPr>
        <p:spPr>
          <a:xfrm>
            <a:off x="2921000" y="1879600"/>
            <a:ext cx="190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SQL Data Type</a:t>
            </a:r>
            <a:endParaRPr lang="en-US" sz="1100"/>
          </a:p>
        </p:txBody>
      </p:sp>
      <p:sp>
        <p:nvSpPr>
          <p:cNvPr id="8" name="AutoShape 8"/>
          <p:cNvSpPr/>
          <p:nvPr/>
        </p:nvSpPr>
        <p:spPr>
          <a:xfrm>
            <a:off x="4953000" y="1879600"/>
            <a:ext cx="228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Constraints / Indexes</a:t>
            </a:r>
            <a:endParaRPr lang="en-US" sz="1100"/>
          </a:p>
        </p:txBody>
      </p:sp>
      <p:sp>
        <p:nvSpPr>
          <p:cNvPr id="9" name="AutoShape 9"/>
          <p:cNvSpPr/>
          <p:nvPr/>
        </p:nvSpPr>
        <p:spPr>
          <a:xfrm>
            <a:off x="7366000" y="18796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API &amp; Validation Rules</a:t>
            </a:r>
            <a:endParaRPr lang="en-US" sz="1100"/>
          </a:p>
        </p:txBody>
      </p:sp>
      <p:sp>
        <p:nvSpPr>
          <p:cNvPr id="10" name="AutoShape 10"/>
          <p:cNvSpPr/>
          <p:nvPr/>
        </p:nvSpPr>
        <p:spPr>
          <a:xfrm>
            <a:off x="762000" y="2387600"/>
            <a:ext cx="10668000" cy="457200"/>
          </a:xfrm>
          <a:prstGeom prst="roundRect">
            <a:avLst>
              <a:gd name="adj" fmla="val 0"/>
            </a:avLst>
          </a:prstGeom>
          <a:solidFill>
            <a:srgbClr val="98DBC6">
              <a:alpha val="1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952500" y="2463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endParaRPr lang="en-US" sz="1100"/>
          </a:p>
        </p:txBody>
      </p:sp>
      <p:sp>
        <p:nvSpPr>
          <p:cNvPr id="12" name="AutoShape 12"/>
          <p:cNvSpPr/>
          <p:nvPr/>
        </p:nvSpPr>
        <p:spPr>
          <a:xfrm>
            <a:off x="2921000" y="2463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INTEGER</a:t>
            </a:r>
            <a:endParaRPr lang="en-US" sz="1100"/>
          </a:p>
        </p:txBody>
      </p:sp>
      <p:sp>
        <p:nvSpPr>
          <p:cNvPr id="13" name="AutoShape 13"/>
          <p:cNvSpPr/>
          <p:nvPr/>
        </p:nvSpPr>
        <p:spPr>
          <a:xfrm>
            <a:off x="4953000" y="24638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Primary Key, Auto-increment</a:t>
            </a:r>
            <a:endParaRPr lang="en-US" sz="1100"/>
          </a:p>
        </p:txBody>
      </p:sp>
      <p:sp>
        <p:nvSpPr>
          <p:cNvPr id="14" name="AutoShape 14"/>
          <p:cNvSpPr/>
          <p:nvPr/>
        </p:nvSpPr>
        <p:spPr>
          <a:xfrm>
            <a:off x="7366000" y="24638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Generated by DB, Read-only field.</a:t>
            </a:r>
            <a:endParaRPr lang="en-US" sz="1100"/>
          </a:p>
        </p:txBody>
      </p:sp>
      <p:sp>
        <p:nvSpPr>
          <p:cNvPr id="15" name="AutoShape 15"/>
          <p:cNvSpPr/>
          <p:nvPr/>
        </p:nvSpPr>
        <p:spPr>
          <a:xfrm>
            <a:off x="762000" y="2895600"/>
            <a:ext cx="10668000" cy="4572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2971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title</a:t>
            </a:r>
            <a:endParaRPr lang="en-US" sz="1100"/>
          </a:p>
        </p:txBody>
      </p:sp>
      <p:sp>
        <p:nvSpPr>
          <p:cNvPr id="17" name="AutoShape 17"/>
          <p:cNvSpPr/>
          <p:nvPr/>
        </p:nvSpPr>
        <p:spPr>
          <a:xfrm>
            <a:off x="2921000" y="2971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VARCHAR(500)</a:t>
            </a:r>
            <a:endParaRPr lang="en-US" sz="1100"/>
          </a:p>
        </p:txBody>
      </p:sp>
      <p:sp>
        <p:nvSpPr>
          <p:cNvPr id="18" name="AutoShape 18"/>
          <p:cNvSpPr/>
          <p:nvPr/>
        </p:nvSpPr>
        <p:spPr>
          <a:xfrm>
            <a:off x="4953000" y="29718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NOT NULL, Indexed</a:t>
            </a:r>
            <a:endParaRPr lang="en-US" sz="1100"/>
          </a:p>
        </p:txBody>
      </p:sp>
      <p:sp>
        <p:nvSpPr>
          <p:cNvPr id="19" name="AutoShape 19"/>
          <p:cNvSpPr/>
          <p:nvPr/>
        </p:nvSpPr>
        <p:spPr>
          <a:xfrm>
            <a:off x="7366000" y="29718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Required input. Must be 1-500 characters.</a:t>
            </a:r>
            <a:endParaRPr lang="en-US" sz="1100"/>
          </a:p>
        </p:txBody>
      </p:sp>
      <p:sp>
        <p:nvSpPr>
          <p:cNvPr id="20" name="AutoShape 20"/>
          <p:cNvSpPr/>
          <p:nvPr/>
        </p:nvSpPr>
        <p:spPr>
          <a:xfrm>
            <a:off x="762000" y="3403600"/>
            <a:ext cx="10668000" cy="457200"/>
          </a:xfrm>
          <a:prstGeom prst="roundRect">
            <a:avLst>
              <a:gd name="adj" fmla="val 0"/>
            </a:avLst>
          </a:prstGeom>
          <a:solidFill>
            <a:srgbClr val="98DBC6">
              <a:alpha val="1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3479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author</a:t>
            </a:r>
            <a:endParaRPr lang="en-US" sz="1100"/>
          </a:p>
        </p:txBody>
      </p:sp>
      <p:sp>
        <p:nvSpPr>
          <p:cNvPr id="22" name="AutoShape 22"/>
          <p:cNvSpPr/>
          <p:nvPr/>
        </p:nvSpPr>
        <p:spPr>
          <a:xfrm>
            <a:off x="2921000" y="3479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VARCHAR(300)</a:t>
            </a:r>
            <a:endParaRPr lang="en-US" sz="1100"/>
          </a:p>
        </p:txBody>
      </p:sp>
      <p:sp>
        <p:nvSpPr>
          <p:cNvPr id="23" name="AutoShape 23"/>
          <p:cNvSpPr/>
          <p:nvPr/>
        </p:nvSpPr>
        <p:spPr>
          <a:xfrm>
            <a:off x="4953000" y="34798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NOT NULL, Indexed</a:t>
            </a:r>
            <a:endParaRPr lang="en-US" sz="1100"/>
          </a:p>
        </p:txBody>
      </p:sp>
      <p:sp>
        <p:nvSpPr>
          <p:cNvPr id="24" name="AutoShape 24"/>
          <p:cNvSpPr/>
          <p:nvPr/>
        </p:nvSpPr>
        <p:spPr>
          <a:xfrm>
            <a:off x="7366000" y="34798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Required input. Must be 1-300 characters.</a:t>
            </a:r>
            <a:endParaRPr lang="en-US" sz="1100"/>
          </a:p>
        </p:txBody>
      </p:sp>
      <p:sp>
        <p:nvSpPr>
          <p:cNvPr id="25" name="AutoShape 25"/>
          <p:cNvSpPr/>
          <p:nvPr/>
        </p:nvSpPr>
        <p:spPr>
          <a:xfrm>
            <a:off x="762000" y="3911600"/>
            <a:ext cx="10668000" cy="4572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52500" y="3987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genre</a:t>
            </a:r>
            <a:endParaRPr lang="en-US" sz="1100"/>
          </a:p>
        </p:txBody>
      </p:sp>
      <p:sp>
        <p:nvSpPr>
          <p:cNvPr id="27" name="AutoShape 27"/>
          <p:cNvSpPr/>
          <p:nvPr/>
        </p:nvSpPr>
        <p:spPr>
          <a:xfrm>
            <a:off x="2921000" y="3987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VARCHAR(120)</a:t>
            </a:r>
            <a:endParaRPr lang="en-US" sz="1100"/>
          </a:p>
        </p:txBody>
      </p:sp>
      <p:sp>
        <p:nvSpPr>
          <p:cNvPr id="28" name="AutoShape 28"/>
          <p:cNvSpPr/>
          <p:nvPr/>
        </p:nvSpPr>
        <p:spPr>
          <a:xfrm>
            <a:off x="4953000" y="39878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NOT NULL, Indexed</a:t>
            </a:r>
            <a:endParaRPr lang="en-US" sz="1100"/>
          </a:p>
        </p:txBody>
      </p:sp>
      <p:sp>
        <p:nvSpPr>
          <p:cNvPr id="29" name="AutoShape 29"/>
          <p:cNvSpPr/>
          <p:nvPr/>
        </p:nvSpPr>
        <p:spPr>
          <a:xfrm>
            <a:off x="7366000" y="39878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Required input. Must be 1-120 characters.</a:t>
            </a:r>
            <a:endParaRPr lang="en-US" sz="1100"/>
          </a:p>
        </p:txBody>
      </p:sp>
      <p:sp>
        <p:nvSpPr>
          <p:cNvPr id="30" name="AutoShape 30"/>
          <p:cNvSpPr/>
          <p:nvPr/>
        </p:nvSpPr>
        <p:spPr>
          <a:xfrm>
            <a:off x="762000" y="4419600"/>
            <a:ext cx="10668000" cy="457200"/>
          </a:xfrm>
          <a:prstGeom prst="roundRect">
            <a:avLst>
              <a:gd name="adj" fmla="val 0"/>
            </a:avLst>
          </a:prstGeom>
          <a:solidFill>
            <a:srgbClr val="98DBC6">
              <a:alpha val="15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952500" y="4495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publication_year</a:t>
            </a:r>
            <a:endParaRPr lang="en-US" sz="1100"/>
          </a:p>
        </p:txBody>
      </p:sp>
      <p:sp>
        <p:nvSpPr>
          <p:cNvPr id="32" name="AutoShape 32"/>
          <p:cNvSpPr/>
          <p:nvPr/>
        </p:nvSpPr>
        <p:spPr>
          <a:xfrm>
            <a:off x="2921000" y="4495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INTEGER</a:t>
            </a:r>
            <a:endParaRPr lang="en-US" sz="1100"/>
          </a:p>
        </p:txBody>
      </p:sp>
      <p:sp>
        <p:nvSpPr>
          <p:cNvPr id="33" name="AutoShape 33"/>
          <p:cNvSpPr/>
          <p:nvPr/>
        </p:nvSpPr>
        <p:spPr>
          <a:xfrm>
            <a:off x="4953000" y="44958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Nullable</a:t>
            </a:r>
            <a:endParaRPr lang="en-US" sz="1100"/>
          </a:p>
        </p:txBody>
      </p:sp>
      <p:sp>
        <p:nvSpPr>
          <p:cNvPr id="34" name="AutoShape 34"/>
          <p:cNvSpPr/>
          <p:nvPr/>
        </p:nvSpPr>
        <p:spPr>
          <a:xfrm>
            <a:off x="7366000" y="44958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Optional. Range: 1000 to 2100.</a:t>
            </a:r>
            <a:endParaRPr lang="en-US" sz="1100"/>
          </a:p>
        </p:txBody>
      </p:sp>
      <p:sp>
        <p:nvSpPr>
          <p:cNvPr id="35" name="AutoShape 35"/>
          <p:cNvSpPr/>
          <p:nvPr/>
        </p:nvSpPr>
        <p:spPr>
          <a:xfrm>
            <a:off x="762000" y="4927600"/>
            <a:ext cx="10668000" cy="4572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952500" y="5003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rating</a:t>
            </a:r>
            <a:endParaRPr lang="en-US" sz="1100"/>
          </a:p>
        </p:txBody>
      </p:sp>
      <p:sp>
        <p:nvSpPr>
          <p:cNvPr id="37" name="AutoShape 37"/>
          <p:cNvSpPr/>
          <p:nvPr/>
        </p:nvSpPr>
        <p:spPr>
          <a:xfrm>
            <a:off x="2921000" y="5003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FLOAT</a:t>
            </a:r>
            <a:endParaRPr lang="en-US" sz="1100"/>
          </a:p>
        </p:txBody>
      </p:sp>
      <p:sp>
        <p:nvSpPr>
          <p:cNvPr id="38" name="AutoShape 38"/>
          <p:cNvSpPr/>
          <p:nvPr/>
        </p:nvSpPr>
        <p:spPr>
          <a:xfrm>
            <a:off x="4953000" y="50038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Nullable</a:t>
            </a:r>
            <a:endParaRPr lang="en-US" sz="1100"/>
          </a:p>
        </p:txBody>
      </p:sp>
      <p:sp>
        <p:nvSpPr>
          <p:cNvPr id="39" name="AutoShape 39"/>
          <p:cNvSpPr/>
          <p:nvPr/>
        </p:nvSpPr>
        <p:spPr>
          <a:xfrm>
            <a:off x="7366000" y="50038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Optional. Range: 0.0 (min) to 5.0 (max).</a:t>
            </a:r>
            <a:endParaRPr lang="en-US" sz="1100"/>
          </a:p>
        </p:txBody>
      </p:sp>
      <p:sp>
        <p:nvSpPr>
          <p:cNvPr id="40" name="AutoShape 40"/>
          <p:cNvSpPr/>
          <p:nvPr/>
        </p:nvSpPr>
        <p:spPr>
          <a:xfrm>
            <a:off x="762000" y="5435600"/>
            <a:ext cx="10668000" cy="457200"/>
          </a:xfrm>
          <a:prstGeom prst="roundRect">
            <a:avLst>
              <a:gd name="adj" fmla="val 0"/>
            </a:avLst>
          </a:prstGeom>
          <a:solidFill>
            <a:srgbClr val="98DBC6">
              <a:alpha val="15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952500" y="5511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notes</a:t>
            </a:r>
            <a:endParaRPr lang="en-US" sz="1100"/>
          </a:p>
        </p:txBody>
      </p:sp>
      <p:sp>
        <p:nvSpPr>
          <p:cNvPr id="42" name="AutoShape 42"/>
          <p:cNvSpPr/>
          <p:nvPr/>
        </p:nvSpPr>
        <p:spPr>
          <a:xfrm>
            <a:off x="2921000" y="55118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TEXT</a:t>
            </a:r>
            <a:endParaRPr lang="en-US" sz="1100"/>
          </a:p>
        </p:txBody>
      </p:sp>
      <p:sp>
        <p:nvSpPr>
          <p:cNvPr id="43" name="AutoShape 43"/>
          <p:cNvSpPr/>
          <p:nvPr/>
        </p:nvSpPr>
        <p:spPr>
          <a:xfrm>
            <a:off x="4953000" y="55118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Nullable</a:t>
            </a:r>
            <a:endParaRPr lang="en-US" sz="1100"/>
          </a:p>
        </p:txBody>
      </p:sp>
      <p:sp>
        <p:nvSpPr>
          <p:cNvPr id="44" name="AutoShape 44"/>
          <p:cNvSpPr/>
          <p:nvPr/>
        </p:nvSpPr>
        <p:spPr>
          <a:xfrm>
            <a:off x="7366000" y="55118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Optional. Unstructured text, no max length.</a:t>
            </a:r>
            <a:endParaRPr lang="en-US" sz="1100"/>
          </a:p>
        </p:txBody>
      </p:sp>
      <p:sp>
        <p:nvSpPr>
          <p:cNvPr id="45" name="AutoShape 45"/>
          <p:cNvSpPr/>
          <p:nvPr/>
        </p:nvSpPr>
        <p:spPr>
          <a:xfrm>
            <a:off x="762000" y="6096000"/>
            <a:ext cx="10668000" cy="508000"/>
          </a:xfrm>
          <a:prstGeom prst="roundRect">
            <a:avLst>
              <a:gd name="adj" fmla="val 25000"/>
            </a:avLst>
          </a:prstGeom>
          <a:solidFill>
            <a:srgbClr val="4A6B8A">
              <a:alpha val="8000"/>
            </a:srgbClr>
          </a:solidFill>
          <a:ln w="25400" cap="flat" cmpd="sng">
            <a:noFill/>
            <a:prstDash val="solid"/>
            <a:round/>
          </a:ln>
        </p:spPr>
        <p:txBody>
          <a:bodyPr vert="horz" wrap="square" lIns="63500" tIns="63500" rIns="63500" bIns="63500" rtlCol="0" anchor="ctr"/>
          <a:lstStyle/>
          <a:p>
            <a:pPr algn="ctr">
              <a:defRPr/>
            </a:pPr>
          </a:p>
        </p:txBody>
      </p:sp>
      <p:sp>
        <p:nvSpPr>
          <p:cNvPr id="46" name="AutoShape 46"/>
          <p:cNvSpPr/>
          <p:nvPr/>
        </p:nvSpPr>
        <p:spPr>
          <a:xfrm>
            <a:off x="889000" y="6197600"/>
            <a:ext cx="10414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A6473"/>
                </a:solidFill>
                <a:latin typeface="Noto Sans SC" panose="020B0200000000000000" charset="-122"/>
                <a:ea typeface="Noto Sans SC" panose="020B0200000000000000" charset="-122"/>
                <a:cs typeface="Noto Sans SC" panose="020B0200000000000000" charset="-122"/>
                <a:sym typeface="Noto Sans SC" panose="020B0200000000000000" charset="-122"/>
              </a:rPr>
              <a:t>💡 Key Design Note: Single-table design prioritizes simplicity for CRUD ops; indexing on title/author/genre optimizes filtering; nullable fields add flexibility.</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Validation and RESTful Semantics Ensure Integrity</a:t>
            </a:r>
            <a:endParaRPr lang="en-US" sz="1100"/>
          </a:p>
        </p:txBody>
      </p:sp>
      <p:sp>
        <p:nvSpPr>
          <p:cNvPr id="3" name="AutoShape 3"/>
          <p:cNvSpPr/>
          <p:nvPr/>
        </p:nvSpPr>
        <p:spPr>
          <a:xfrm>
            <a:off x="762000" y="1143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Model - Key Considerations</a:t>
            </a:r>
            <a:endParaRPr lang="en-US" sz="1100"/>
          </a:p>
        </p:txBody>
      </p:sp>
      <p:sp>
        <p:nvSpPr>
          <p:cNvPr id="4" name="AutoShape 4"/>
          <p:cNvSpPr/>
          <p:nvPr>
            <p:custDataLst>
              <p:tags r:id="rId1"/>
            </p:custDataLst>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778000"/>
            <a:ext cx="5207000" cy="762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066800" y="2159000"/>
            <a:ext cx="812800" cy="812800"/>
          </a:xfrm>
          <a:prstGeom prst="ellipse">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19200" y="2311400"/>
            <a:ext cx="508000" cy="508000"/>
          </a:xfrm>
          <a:prstGeom prst="rect">
            <a:avLst/>
          </a:prstGeom>
        </p:spPr>
      </p:pic>
      <p:sp>
        <p:nvSpPr>
          <p:cNvPr id="8" name="AutoShape 8"/>
          <p:cNvSpPr/>
          <p:nvPr>
            <p:custDataLst>
              <p:tags r:id="rId7"/>
            </p:custDataLst>
          </p:nvPr>
        </p:nvSpPr>
        <p:spPr>
          <a:xfrm>
            <a:off x="2082800" y="22098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Validation at the Boundary</a:t>
            </a:r>
            <a:endParaRPr lang="en-US" sz="1100"/>
          </a:p>
        </p:txBody>
      </p:sp>
      <p:sp>
        <p:nvSpPr>
          <p:cNvPr id="9" name="AutoShape 9"/>
          <p:cNvSpPr/>
          <p:nvPr>
            <p:custDataLst>
              <p:tags r:id="rId8"/>
            </p:custDataLst>
          </p:nvPr>
        </p:nvSpPr>
        <p:spPr>
          <a:xfrm>
            <a:off x="2082800" y="27178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spc="100">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VALIDATION LAYER</a:t>
            </a:r>
            <a:endParaRPr lang="en-US" sz="1100"/>
          </a:p>
        </p:txBody>
      </p:sp>
      <p:cxnSp>
        <p:nvCxnSpPr>
          <p:cNvPr id="10" name="Connector 10"/>
          <p:cNvCxnSpPr/>
          <p:nvPr>
            <p:custDataLst>
              <p:tags r:id="rId9"/>
            </p:custDataLst>
          </p:nvPr>
        </p:nvCxnSpPr>
        <p:spPr>
          <a:xfrm rot="-9496">
            <a:off x="1066809" y="3232150"/>
            <a:ext cx="45974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1" name="AutoShape 11"/>
          <p:cNvSpPr/>
          <p:nvPr>
            <p:custDataLst>
              <p:tags r:id="rId10"/>
            </p:custDataLst>
          </p:nvPr>
        </p:nvSpPr>
        <p:spPr>
          <a:xfrm>
            <a:off x="864870" y="3403600"/>
            <a:ext cx="4959350" cy="139319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All input validation is handled by Pydantic schemas (</a:t>
            </a: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BookCreate</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BookUpdate</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the API boundary. String lengths and numeric ranges are strictly enforced to match database constraints, preventing invalid or malformed data from being written.</a:t>
            </a:r>
            <a:endParaRPr lang="en-US" sz="1600"/>
          </a:p>
        </p:txBody>
      </p:sp>
      <p:sp>
        <p:nvSpPr>
          <p:cNvPr id="12" name="AutoShape 12"/>
          <p:cNvSpPr/>
          <p:nvPr>
            <p:custDataLst>
              <p:tags r:id="rId11"/>
            </p:custDataLst>
          </p:nvPr>
        </p:nvSpPr>
        <p:spPr>
          <a:xfrm>
            <a:off x="1066800" y="4953000"/>
            <a:ext cx="4597400" cy="635000"/>
          </a:xfrm>
          <a:prstGeom prst="roundRect">
            <a:avLst>
              <a:gd name="adj" fmla="val 16000"/>
            </a:avLst>
          </a:prstGeom>
          <a:solidFill>
            <a:srgbClr val="98DBC6">
              <a:alpha val="1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2"/>
            </p:custDataLst>
          </p:nvPr>
        </p:nvSpPr>
        <p:spPr>
          <a:xfrm>
            <a:off x="1270000" y="51054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    Result: Zero Invalid Writes to Database</a:t>
            </a:r>
            <a:endParaRPr lang="en-US" sz="1100"/>
          </a:p>
        </p:txBody>
      </p:sp>
      <p:sp>
        <p:nvSpPr>
          <p:cNvPr id="14" name="AutoShape 14"/>
          <p:cNvSpPr/>
          <p:nvPr>
            <p:custDataLst>
              <p:tags r:id="rId13"/>
            </p:custDataLst>
          </p:nvPr>
        </p:nvSpPr>
        <p:spPr>
          <a:xfrm>
            <a:off x="6223000" y="1778000"/>
            <a:ext cx="5207000" cy="4318000"/>
          </a:xfrm>
          <a:prstGeom prst="roundRect">
            <a:avLst>
              <a:gd name="adj" fmla="val 3529"/>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custDataLst>
              <p:tags r:id="rId14"/>
            </p:custDataLst>
          </p:nvPr>
        </p:nvSpPr>
        <p:spPr>
          <a:xfrm>
            <a:off x="6223000" y="1778000"/>
            <a:ext cx="5207000" cy="762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5"/>
            </p:custDataLst>
          </p:nvPr>
        </p:nvSpPr>
        <p:spPr>
          <a:xfrm>
            <a:off x="6527800" y="2159000"/>
            <a:ext cx="812800" cy="812800"/>
          </a:xfrm>
          <a:prstGeom prst="ellipse">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680200" y="2311400"/>
            <a:ext cx="508000" cy="508000"/>
          </a:xfrm>
          <a:prstGeom prst="rect">
            <a:avLst/>
          </a:prstGeom>
        </p:spPr>
      </p:pic>
      <p:sp>
        <p:nvSpPr>
          <p:cNvPr id="18" name="AutoShape 18"/>
          <p:cNvSpPr/>
          <p:nvPr>
            <p:custDataLst>
              <p:tags r:id="rId19"/>
            </p:custDataLst>
          </p:nvPr>
        </p:nvSpPr>
        <p:spPr>
          <a:xfrm>
            <a:off x="7543800" y="22098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RESTful Design Principles</a:t>
            </a:r>
            <a:endParaRPr lang="en-US" sz="1100"/>
          </a:p>
        </p:txBody>
      </p:sp>
      <p:sp>
        <p:nvSpPr>
          <p:cNvPr id="19" name="AutoShape 19"/>
          <p:cNvSpPr/>
          <p:nvPr>
            <p:custDataLst>
              <p:tags r:id="rId20"/>
            </p:custDataLst>
          </p:nvPr>
        </p:nvSpPr>
        <p:spPr>
          <a:xfrm>
            <a:off x="7543800" y="27178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spc="100">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API CONTRACT &amp; SEMANTICS</a:t>
            </a:r>
            <a:endParaRPr lang="en-US" sz="1100"/>
          </a:p>
        </p:txBody>
      </p:sp>
      <p:cxnSp>
        <p:nvCxnSpPr>
          <p:cNvPr id="20" name="Connector 20"/>
          <p:cNvCxnSpPr/>
          <p:nvPr>
            <p:custDataLst>
              <p:tags r:id="rId21"/>
            </p:custDataLst>
          </p:nvPr>
        </p:nvCxnSpPr>
        <p:spPr>
          <a:xfrm rot="-9496">
            <a:off x="6527809" y="3232150"/>
            <a:ext cx="45974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21" name="AutoShape 21" descr="7b0a202020202262756c6c6574223a20227b5c2263617465676f727949645c223a5c225c222c5c2274656d706c61746549645c223a32303233313639367d220a7d0a"/>
          <p:cNvSpPr/>
          <p:nvPr>
            <p:custDataLst>
              <p:tags r:id="rId22"/>
            </p:custDataLst>
          </p:nvPr>
        </p:nvSpPr>
        <p:spPr>
          <a:xfrm>
            <a:off x="6306185" y="3335655"/>
            <a:ext cx="5207635" cy="1533525"/>
          </a:xfrm>
          <a:prstGeom prst="rect">
            <a:avLst/>
          </a:prstGeom>
          <a:noFill/>
          <a:ln w="12700" cap="flat" cmpd="sng">
            <a:noFill/>
            <a:prstDash val="solid"/>
            <a:round/>
          </a:ln>
        </p:spPr>
        <p:txBody>
          <a:bodyPr vert="horz" wrap="square" lIns="0" tIns="0" rIns="0" bIns="0" rtlCol="0" anchor="ctr" anchorCtr="0"/>
          <a:lstStyle/>
          <a:p>
            <a:pPr indent="0" algn="l">
              <a:lnSpc>
                <a:spcPct val="125000"/>
              </a:lnSpc>
              <a:buBlip>
                <a:blip r:embed="rId23">
                  <a:extLst>
                    <a:ext uri="{96DAC541-7B7A-43D3-8B79-37D633B846F1}">
                      <asvg:svgBlip xmlns:asvg="http://schemas.microsoft.com/office/drawing/2016/SVG/main" r:embed="rId24"/>
                    </a:ext>
                  </a:extLst>
                </a:blip>
              </a:buBlip>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The primary key </a:t>
            </a: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id </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is used consistently in resource paths. </a:t>
            </a:r>
            <a:endPar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buBlip>
                <a:blip r:embed="rId23">
                  <a:extLst>
                    <a:ext uri="{96DAC541-7B7A-43D3-8B79-37D633B846F1}">
                      <asvg:svgBlip xmlns:asvg="http://schemas.microsoft.com/office/drawing/2016/SVG/main" r:embed="rId24"/>
                    </a:ext>
                  </a:extLst>
                </a:blip>
              </a:buBlip>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List endpoints are sorted by </a:t>
            </a: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id </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for stable ordering. </a:t>
            </a:r>
            <a:endPar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buBlip>
                <a:blip r:embed="rId23">
                  <a:extLst>
                    <a:ext uri="{96DAC541-7B7A-43D3-8B79-37D633B846F1}">
                      <asvg:svgBlip xmlns:asvg="http://schemas.microsoft.com/office/drawing/2016/SVG/main" r:embed="rId24"/>
                    </a:ext>
                  </a:extLst>
                </a:blip>
              </a:buBlip>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Analytics endpoints group data by the </a:t>
            </a: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genre </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string exactly as stored, a conscious decision to maintain a simple and predictable data model.</a:t>
            </a:r>
            <a:endParaRPr lang="en-US" sz="1600"/>
          </a:p>
        </p:txBody>
      </p:sp>
      <p:sp>
        <p:nvSpPr>
          <p:cNvPr id="22" name="AutoShape 22"/>
          <p:cNvSpPr/>
          <p:nvPr>
            <p:custDataLst>
              <p:tags r:id="rId25"/>
            </p:custDataLst>
          </p:nvPr>
        </p:nvSpPr>
        <p:spPr>
          <a:xfrm>
            <a:off x="6527800" y="4953000"/>
            <a:ext cx="4597400" cy="635000"/>
          </a:xfrm>
          <a:prstGeom prst="roundRect">
            <a:avLst>
              <a:gd name="adj" fmla="val 16000"/>
            </a:avLst>
          </a:prstGeom>
          <a:solidFill>
            <a:srgbClr val="98DBC6">
              <a:alpha val="1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26"/>
            </p:custDataLst>
          </p:nvPr>
        </p:nvSpPr>
        <p:spPr>
          <a:xfrm>
            <a:off x="6731000" y="51054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    Result: Consistent &amp; Predictable API Contract</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REST is the Right Choice for This Project's Scope</a:t>
            </a:r>
            <a:endParaRPr lang="en-US" sz="1100"/>
          </a:p>
        </p:txBody>
      </p:sp>
      <p:sp>
        <p:nvSpPr>
          <p:cNvPr id="3" name="AutoShape 3"/>
          <p:cNvSpPr/>
          <p:nvPr/>
        </p:nvSpPr>
        <p:spPr>
          <a:xfrm>
            <a:off x="762000" y="1143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API Semantics - RESTful Design Strategy</a:t>
            </a:r>
            <a:endParaRPr lang="en-US" sz="1100"/>
          </a:p>
        </p:txBody>
      </p:sp>
      <p:sp>
        <p:nvSpPr>
          <p:cNvPr id="4" name="AutoShape 4"/>
          <p:cNvSpPr/>
          <p:nvPr/>
        </p:nvSpPr>
        <p:spPr>
          <a:xfrm>
            <a:off x="762000" y="1651000"/>
            <a:ext cx="4318000" cy="4699000"/>
          </a:xfrm>
          <a:prstGeom prst="roundRect">
            <a:avLst>
              <a:gd name="adj" fmla="val 4705"/>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REST vs. GraphQL</a:t>
            </a:r>
            <a:endParaRPr lang="en-US" sz="1100"/>
          </a:p>
        </p:txBody>
      </p:sp>
      <p:sp>
        <p:nvSpPr>
          <p:cNvPr id="6" name="AutoShape 6"/>
          <p:cNvSpPr/>
          <p:nvPr/>
        </p:nvSpPr>
        <p:spPr>
          <a:xfrm>
            <a:off x="1016000" y="2540000"/>
            <a:ext cx="3810000" cy="1524000"/>
          </a:xfrm>
          <a:prstGeom prst="roundRect">
            <a:avLst>
              <a:gd name="adj" fmla="val 10000"/>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06500" y="258953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REST (Our Selected Approach)</a:t>
            </a:r>
            <a:endParaRPr lang="en-US" sz="1100"/>
          </a:p>
        </p:txBody>
      </p:sp>
      <p:sp>
        <p:nvSpPr>
          <p:cNvPr id="8" name="AutoShape 8"/>
          <p:cNvSpPr/>
          <p:nvPr/>
        </p:nvSpPr>
        <p:spPr>
          <a:xfrm>
            <a:off x="1016000" y="3111500"/>
            <a:ext cx="38735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Simple &amp; intuitive for read-only stats</a:t>
            </a:r>
            <a:br>
              <a:rPr lang="en-US"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No need for complex relationship queries</a:t>
            </a:r>
            <a:br>
              <a:rPr lang="en-US"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Native support for FastAPI auto-documentation</a:t>
            </a:r>
            <a:endParaRPr lang="en-US"/>
          </a:p>
        </p:txBody>
      </p:sp>
      <p:sp>
        <p:nvSpPr>
          <p:cNvPr id="9" name="AutoShape 9"/>
          <p:cNvSpPr/>
          <p:nvPr/>
        </p:nvSpPr>
        <p:spPr>
          <a:xfrm>
            <a:off x="1016000" y="4318000"/>
            <a:ext cx="3810000" cy="1524000"/>
          </a:xfrm>
          <a:prstGeom prst="roundRect">
            <a:avLst>
              <a:gd name="adj" fmla="val 10000"/>
            </a:avLst>
          </a:prstGeom>
          <a:solidFill>
            <a:srgbClr val="E2E8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06500" y="44450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GraphQL (Not Ideal Here)</a:t>
            </a:r>
            <a:endParaRPr lang="en-US" sz="1100"/>
          </a:p>
        </p:txBody>
      </p:sp>
      <p:sp>
        <p:nvSpPr>
          <p:cNvPr id="11" name="AutoShape 11"/>
          <p:cNvSpPr/>
          <p:nvPr/>
        </p:nvSpPr>
        <p:spPr>
          <a:xfrm>
            <a:off x="1093470" y="4775200"/>
            <a:ext cx="3796030" cy="10668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Over-engineered for a single  books  resource</a:t>
            </a:r>
            <a:br>
              <a:rPr lang="en-US"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Adds unnecessary query complexity</a:t>
            </a:r>
            <a:br>
              <a:rPr lang="en-US"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No benefit for static, read-only analytics</a:t>
            </a:r>
            <a:endParaRPr lang="en-US"/>
          </a:p>
        </p:txBody>
      </p:sp>
      <p:sp>
        <p:nvSpPr>
          <p:cNvPr id="12" name="AutoShape 12"/>
          <p:cNvSpPr/>
          <p:nvPr/>
        </p:nvSpPr>
        <p:spPr>
          <a:xfrm>
            <a:off x="5334000" y="1651000"/>
            <a:ext cx="6096000" cy="2413000"/>
          </a:xfrm>
          <a:prstGeom prst="roundRect">
            <a:avLst>
              <a:gd name="adj" fmla="val 8421"/>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3" name="AutoShape 13"/>
          <p:cNvSpPr/>
          <p:nvPr/>
        </p:nvSpPr>
        <p:spPr>
          <a:xfrm>
            <a:off x="5588000" y="1841500"/>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Reasons for Choosing REST</a:t>
            </a:r>
            <a:endParaRPr lang="en-US" sz="1100"/>
          </a:p>
        </p:txBody>
      </p:sp>
      <p:sp>
        <p:nvSpPr>
          <p:cNvPr id="14" name="AutoShape 14"/>
          <p:cNvSpPr/>
          <p:nvPr/>
        </p:nvSpPr>
        <p:spPr>
          <a:xfrm>
            <a:off x="5588000" y="2413000"/>
            <a:ext cx="1778000" cy="1397000"/>
          </a:xfrm>
          <a:prstGeom prst="roundRect">
            <a:avLst>
              <a:gd name="adj" fmla="val 9090"/>
            </a:avLst>
          </a:prstGeom>
          <a:solidFill>
            <a:srgbClr val="F0F9F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5000" y="2540000"/>
            <a:ext cx="355600" cy="355600"/>
          </a:xfrm>
          <a:prstGeom prst="rect">
            <a:avLst/>
          </a:prstGeom>
        </p:spPr>
      </p:pic>
      <p:sp>
        <p:nvSpPr>
          <p:cNvPr id="16" name="AutoShape 16"/>
          <p:cNvSpPr/>
          <p:nvPr/>
        </p:nvSpPr>
        <p:spPr>
          <a:xfrm>
            <a:off x="6159500" y="2565400"/>
            <a:ext cx="114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Simplicity</a:t>
            </a:r>
            <a:endParaRPr lang="en-US" sz="1100"/>
          </a:p>
        </p:txBody>
      </p:sp>
      <p:sp>
        <p:nvSpPr>
          <p:cNvPr id="17" name="AutoShape 17"/>
          <p:cNvSpPr/>
          <p:nvPr/>
        </p:nvSpPr>
        <p:spPr>
          <a:xfrm>
            <a:off x="5715000" y="30480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Perfect for a single resource ( books ) and basic read-only data.</a:t>
            </a:r>
            <a:endParaRPr lang="en-US" sz="1100"/>
          </a:p>
        </p:txBody>
      </p:sp>
      <p:sp>
        <p:nvSpPr>
          <p:cNvPr id="18" name="AutoShape 18"/>
          <p:cNvSpPr/>
          <p:nvPr/>
        </p:nvSpPr>
        <p:spPr>
          <a:xfrm>
            <a:off x="7493000" y="2413000"/>
            <a:ext cx="1778000" cy="1397000"/>
          </a:xfrm>
          <a:prstGeom prst="roundRect">
            <a:avLst>
              <a:gd name="adj" fmla="val 9090"/>
            </a:avLst>
          </a:prstGeom>
          <a:solidFill>
            <a:srgbClr val="F0F9F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0" y="2540000"/>
            <a:ext cx="355600" cy="355600"/>
          </a:xfrm>
          <a:prstGeom prst="rect">
            <a:avLst/>
          </a:prstGeom>
        </p:spPr>
      </p:pic>
      <p:sp>
        <p:nvSpPr>
          <p:cNvPr id="20" name="AutoShape 20"/>
          <p:cNvSpPr/>
          <p:nvPr/>
        </p:nvSpPr>
        <p:spPr>
          <a:xfrm>
            <a:off x="8064500" y="2565400"/>
            <a:ext cx="114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No Bloat</a:t>
            </a:r>
            <a:endParaRPr lang="en-US" sz="1100"/>
          </a:p>
        </p:txBody>
      </p:sp>
      <p:sp>
        <p:nvSpPr>
          <p:cNvPr id="21" name="AutoShape 21"/>
          <p:cNvSpPr/>
          <p:nvPr/>
        </p:nvSpPr>
        <p:spPr>
          <a:xfrm>
            <a:off x="7620000" y="2921000"/>
            <a:ext cx="1524000" cy="71755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No deep entity graphs or arbitrary client field selection required.</a:t>
            </a:r>
            <a:endParaRPr lang="en-US" sz="1100"/>
          </a:p>
        </p:txBody>
      </p:sp>
      <p:sp>
        <p:nvSpPr>
          <p:cNvPr id="22" name="AutoShape 22"/>
          <p:cNvSpPr/>
          <p:nvPr/>
        </p:nvSpPr>
        <p:spPr>
          <a:xfrm>
            <a:off x="9398000" y="2413000"/>
            <a:ext cx="1778000" cy="1397000"/>
          </a:xfrm>
          <a:prstGeom prst="roundRect">
            <a:avLst>
              <a:gd name="adj" fmla="val 9090"/>
            </a:avLst>
          </a:prstGeom>
          <a:solidFill>
            <a:srgbClr val="F0F9F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0" y="2540000"/>
            <a:ext cx="355600" cy="355600"/>
          </a:xfrm>
          <a:prstGeom prst="rect">
            <a:avLst/>
          </a:prstGeom>
        </p:spPr>
      </p:pic>
      <p:sp>
        <p:nvSpPr>
          <p:cNvPr id="24" name="AutoShape 24"/>
          <p:cNvSpPr/>
          <p:nvPr/>
        </p:nvSpPr>
        <p:spPr>
          <a:xfrm>
            <a:off x="9969500" y="2565400"/>
            <a:ext cx="114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Auto Docs</a:t>
            </a:r>
            <a:endParaRPr lang="en-US" sz="1100"/>
          </a:p>
        </p:txBody>
      </p:sp>
      <p:sp>
        <p:nvSpPr>
          <p:cNvPr id="25" name="AutoShape 25"/>
          <p:cNvSpPr/>
          <p:nvPr/>
        </p:nvSpPr>
        <p:spPr>
          <a:xfrm>
            <a:off x="9525000" y="3000375"/>
            <a:ext cx="1524000" cy="73533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Leverages FastAPI's built-in Swagger UI for testing.</a:t>
            </a:r>
            <a:endParaRPr lang="en-US" sz="1100"/>
          </a:p>
        </p:txBody>
      </p:sp>
      <p:sp>
        <p:nvSpPr>
          <p:cNvPr id="26" name="AutoShape 26"/>
          <p:cNvSpPr/>
          <p:nvPr/>
        </p:nvSpPr>
        <p:spPr>
          <a:xfrm>
            <a:off x="5334000" y="4191000"/>
            <a:ext cx="6096000" cy="2159000"/>
          </a:xfrm>
          <a:prstGeom prst="roundRect">
            <a:avLst>
              <a:gd name="adj" fmla="val 9411"/>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27" name="AutoShape 27"/>
          <p:cNvSpPr/>
          <p:nvPr/>
        </p:nvSpPr>
        <p:spPr>
          <a:xfrm>
            <a:off x="5588000" y="4381500"/>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Standard HTTP Status Codes Implementation</a:t>
            </a:r>
            <a:endParaRPr lang="en-US" sz="1100"/>
          </a:p>
        </p:txBody>
      </p:sp>
      <p:sp>
        <p:nvSpPr>
          <p:cNvPr id="28" name="AutoShape 28"/>
          <p:cNvSpPr/>
          <p:nvPr/>
        </p:nvSpPr>
        <p:spPr>
          <a:xfrm>
            <a:off x="5588000" y="4953000"/>
            <a:ext cx="1778000" cy="508000"/>
          </a:xfrm>
          <a:prstGeom prst="roundRect">
            <a:avLst>
              <a:gd name="adj" fmla="val 50000"/>
            </a:avLst>
          </a:prstGeom>
          <a:solidFill>
            <a:srgbClr val="E0F7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5588000" y="5029200"/>
            <a:ext cx="177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200 OK (Success)</a:t>
            </a:r>
            <a:endParaRPr lang="en-US" sz="1100"/>
          </a:p>
        </p:txBody>
      </p:sp>
      <p:sp>
        <p:nvSpPr>
          <p:cNvPr id="30" name="AutoShape 30"/>
          <p:cNvSpPr/>
          <p:nvPr/>
        </p:nvSpPr>
        <p:spPr>
          <a:xfrm>
            <a:off x="7493000" y="4953000"/>
            <a:ext cx="1778000" cy="508000"/>
          </a:xfrm>
          <a:prstGeom prst="roundRect">
            <a:avLst>
              <a:gd name="adj" fmla="val 50000"/>
            </a:avLst>
          </a:prstGeom>
          <a:solidFill>
            <a:srgbClr val="E0F7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7493000" y="5029200"/>
            <a:ext cx="177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201 Created (New)</a:t>
            </a:r>
            <a:endParaRPr lang="en-US" sz="1100"/>
          </a:p>
        </p:txBody>
      </p:sp>
      <p:sp>
        <p:nvSpPr>
          <p:cNvPr id="32" name="AutoShape 32"/>
          <p:cNvSpPr/>
          <p:nvPr/>
        </p:nvSpPr>
        <p:spPr>
          <a:xfrm>
            <a:off x="9398000" y="4953000"/>
            <a:ext cx="1778000" cy="508000"/>
          </a:xfrm>
          <a:prstGeom prst="roundRect">
            <a:avLst>
              <a:gd name="adj" fmla="val 50000"/>
            </a:avLst>
          </a:prstGeom>
          <a:solidFill>
            <a:srgbClr val="E0F7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9398000" y="5029200"/>
            <a:ext cx="177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204 No Content</a:t>
            </a:r>
            <a:endParaRPr lang="en-US" sz="1100"/>
          </a:p>
        </p:txBody>
      </p:sp>
      <p:sp>
        <p:nvSpPr>
          <p:cNvPr id="34" name="AutoShape 34"/>
          <p:cNvSpPr/>
          <p:nvPr/>
        </p:nvSpPr>
        <p:spPr>
          <a:xfrm>
            <a:off x="5588000" y="5588000"/>
            <a:ext cx="2667000" cy="508000"/>
          </a:xfrm>
          <a:prstGeom prst="roundRect">
            <a:avLst>
              <a:gd name="adj" fmla="val 50000"/>
            </a:avLst>
          </a:prstGeom>
          <a:solidFill>
            <a:srgbClr val="E0F7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5588000" y="5664200"/>
            <a:ext cx="2667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404 Not Found (Resource Missing)</a:t>
            </a:r>
            <a:endParaRPr lang="en-US" sz="1100"/>
          </a:p>
        </p:txBody>
      </p:sp>
      <p:sp>
        <p:nvSpPr>
          <p:cNvPr id="36" name="AutoShape 36"/>
          <p:cNvSpPr/>
          <p:nvPr/>
        </p:nvSpPr>
        <p:spPr>
          <a:xfrm>
            <a:off x="8509000" y="5588000"/>
            <a:ext cx="2667000" cy="508000"/>
          </a:xfrm>
          <a:prstGeom prst="roundRect">
            <a:avLst>
              <a:gd name="adj" fmla="val 50000"/>
            </a:avLst>
          </a:prstGeom>
          <a:solidFill>
            <a:srgbClr val="E0F7E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8509000" y="5664200"/>
            <a:ext cx="2667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422 Unprocessable (Validation Fail)</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Comprehensive CRUD Endpoints for Full Catalog Control</a:t>
            </a:r>
            <a:endParaRPr lang="en-US" sz="1100"/>
          </a:p>
        </p:txBody>
      </p:sp>
      <p:sp>
        <p:nvSpPr>
          <p:cNvPr id="3" name="AutoShape 3"/>
          <p:cNvSpPr/>
          <p:nvPr/>
        </p:nvSpPr>
        <p:spPr>
          <a:xfrm>
            <a:off x="762000" y="1143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API Endpoints - CRUD Operations (Base Path:  /api/v1/books )</a:t>
            </a:r>
            <a:endParaRPr lang="en-US" sz="1100"/>
          </a:p>
        </p:txBody>
      </p:sp>
      <p:sp>
        <p:nvSpPr>
          <p:cNvPr id="4" name="AutoShape 4"/>
          <p:cNvSpPr/>
          <p:nvPr/>
        </p:nvSpPr>
        <p:spPr>
          <a:xfrm>
            <a:off x="762000" y="1778000"/>
            <a:ext cx="2476500" cy="4318000"/>
          </a:xfrm>
          <a:prstGeom prst="roundRect">
            <a:avLst>
              <a:gd name="adj" fmla="val 6153"/>
            </a:avLst>
          </a:prstGeom>
          <a:solidFill>
            <a:srgbClr val="FFFFFF">
              <a:alpha val="100000"/>
            </a:srgbClr>
          </a:solidFill>
          <a:ln w="25400" cap="flat" cmpd="sng">
            <a:noFill/>
            <a:prstDash val="solid"/>
            <a:round/>
          </a:ln>
          <a:effectLst>
            <a:outerShdw blurRad="2032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62000" y="1778000"/>
            <a:ext cx="2476500" cy="1143000"/>
          </a:xfrm>
          <a:prstGeom prst="roundRect">
            <a:avLst>
              <a:gd name="adj" fmla="val 13333"/>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19250" y="2032000"/>
            <a:ext cx="762000" cy="762000"/>
          </a:xfrm>
          <a:prstGeom prst="rect">
            <a:avLst/>
          </a:prstGeom>
        </p:spPr>
      </p:pic>
      <p:sp>
        <p:nvSpPr>
          <p:cNvPr id="7" name="AutoShape 7"/>
          <p:cNvSpPr/>
          <p:nvPr/>
        </p:nvSpPr>
        <p:spPr>
          <a:xfrm>
            <a:off x="952500" y="3175000"/>
            <a:ext cx="2095500" cy="406400"/>
          </a:xfrm>
          <a:prstGeom prst="roundRect">
            <a:avLst>
              <a:gd name="adj" fmla="val 18750"/>
            </a:avLst>
          </a:prstGeom>
          <a:solidFill>
            <a:srgbClr val="98DBC6">
              <a:alpha val="25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GET /</a:t>
            </a:r>
            <a:endParaRPr lang="en-US" sz="1100"/>
          </a:p>
        </p:txBody>
      </p:sp>
      <p:sp>
        <p:nvSpPr>
          <p:cNvPr id="8" name="AutoShape 8"/>
          <p:cNvSpPr/>
          <p:nvPr/>
        </p:nvSpPr>
        <p:spPr>
          <a:xfrm>
            <a:off x="952500" y="3810000"/>
            <a:ext cx="2095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List Books</a:t>
            </a:r>
            <a:endParaRPr lang="en-US" sz="1100"/>
          </a:p>
        </p:txBody>
      </p:sp>
      <p:sp>
        <p:nvSpPr>
          <p:cNvPr id="9" name="AutoShape 9"/>
          <p:cNvSpPr/>
          <p:nvPr/>
        </p:nvSpPr>
        <p:spPr>
          <a:xfrm>
            <a:off x="952500" y="4419600"/>
            <a:ext cx="20955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 pagination ( skip ,  limit ) and advanced filtering by  genre  parameter.</a:t>
            </a:r>
            <a:endParaRPr lang="en-US" sz="1600"/>
          </a:p>
        </p:txBody>
      </p:sp>
      <p:sp>
        <p:nvSpPr>
          <p:cNvPr id="10" name="AutoShape 10"/>
          <p:cNvSpPr/>
          <p:nvPr/>
        </p:nvSpPr>
        <p:spPr>
          <a:xfrm>
            <a:off x="3492500" y="1778000"/>
            <a:ext cx="2476500" cy="4318000"/>
          </a:xfrm>
          <a:prstGeom prst="roundRect">
            <a:avLst>
              <a:gd name="adj" fmla="val 6153"/>
            </a:avLst>
          </a:prstGeom>
          <a:solidFill>
            <a:srgbClr val="FFFFFF">
              <a:alpha val="100000"/>
            </a:srgbClr>
          </a:solidFill>
          <a:ln w="25400" cap="flat" cmpd="sng">
            <a:noFill/>
            <a:prstDash val="solid"/>
            <a:round/>
          </a:ln>
          <a:effectLst>
            <a:outerShdw blurRad="2032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3492500" y="1778000"/>
            <a:ext cx="2476500" cy="1143000"/>
          </a:xfrm>
          <a:prstGeom prst="roundRect">
            <a:avLst>
              <a:gd name="adj" fmla="val 13333"/>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49750" y="2032000"/>
            <a:ext cx="762000" cy="762000"/>
          </a:xfrm>
          <a:prstGeom prst="rect">
            <a:avLst/>
          </a:prstGeom>
        </p:spPr>
      </p:pic>
      <p:sp>
        <p:nvSpPr>
          <p:cNvPr id="13" name="AutoShape 13"/>
          <p:cNvSpPr/>
          <p:nvPr/>
        </p:nvSpPr>
        <p:spPr>
          <a:xfrm>
            <a:off x="3683000" y="3175000"/>
            <a:ext cx="2095500" cy="406400"/>
          </a:xfrm>
          <a:prstGeom prst="roundRect">
            <a:avLst>
              <a:gd name="adj" fmla="val 18750"/>
            </a:avLst>
          </a:prstGeom>
          <a:solidFill>
            <a:srgbClr val="98DBC6">
              <a:alpha val="25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GET /{id}</a:t>
            </a:r>
            <a:endParaRPr lang="en-US" sz="1100"/>
          </a:p>
        </p:txBody>
      </p:sp>
      <p:sp>
        <p:nvSpPr>
          <p:cNvPr id="14" name="AutoShape 14"/>
          <p:cNvSpPr/>
          <p:nvPr/>
        </p:nvSpPr>
        <p:spPr>
          <a:xfrm>
            <a:off x="3683000" y="3810000"/>
            <a:ext cx="2095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Get Book by ID</a:t>
            </a:r>
            <a:endParaRPr lang="en-US" sz="1100"/>
          </a:p>
        </p:txBody>
      </p:sp>
      <p:sp>
        <p:nvSpPr>
          <p:cNvPr id="15" name="AutoShape 15"/>
          <p:cNvSpPr/>
          <p:nvPr/>
        </p:nvSpPr>
        <p:spPr>
          <a:xfrm>
            <a:off x="3593465" y="4419600"/>
            <a:ext cx="2286635" cy="1574800"/>
          </a:xfrm>
          <a:prstGeom prst="rect">
            <a:avLst/>
          </a:prstGeom>
          <a:noFill/>
          <a:ln w="12700" cap="flat" cmpd="sng">
            <a:noFill/>
            <a:prstDash val="solid"/>
            <a:round/>
          </a:ln>
        </p:spPr>
        <p:txBody>
          <a:bodyPr vert="horz" wrap="square" lIns="0" tIns="0" rIns="0" bIns="0" rtlCol="0" anchor="t" anchorCtr="0"/>
          <a:lstStyle/>
          <a:p>
            <a:pPr marL="285750" indent="-285750" algn="l">
              <a:lnSpc>
                <a:spcPct val="117000"/>
              </a:lnSpc>
              <a:buFont typeface="Wingdings" panose="05000000000000000000" charset="0"/>
              <a:buChar char="n"/>
              <a:defRPr/>
            </a:pPr>
            <a:r>
              <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Retrieve a single book resource by its primary key. </a:t>
            </a:r>
            <a:endPar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17000"/>
              </a:lnSpc>
              <a:buFont typeface="Wingdings" panose="05000000000000000000" charset="0"/>
              <a:buChar char="n"/>
              <a:defRPr/>
            </a:pPr>
            <a:r>
              <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404 Not Found  if the ID is invalid.</a:t>
            </a:r>
            <a:endParaRPr lang="en-US" sz="1600"/>
          </a:p>
        </p:txBody>
      </p:sp>
      <p:sp>
        <p:nvSpPr>
          <p:cNvPr id="16" name="AutoShape 16"/>
          <p:cNvSpPr/>
          <p:nvPr/>
        </p:nvSpPr>
        <p:spPr>
          <a:xfrm>
            <a:off x="6223000" y="1778000"/>
            <a:ext cx="2476500" cy="4318000"/>
          </a:xfrm>
          <a:prstGeom prst="roundRect">
            <a:avLst>
              <a:gd name="adj" fmla="val 6153"/>
            </a:avLst>
          </a:prstGeom>
          <a:solidFill>
            <a:srgbClr val="FFFFFF">
              <a:alpha val="100000"/>
            </a:srgbClr>
          </a:solidFill>
          <a:ln w="25400" cap="flat" cmpd="sng">
            <a:noFill/>
            <a:prstDash val="solid"/>
            <a:round/>
          </a:ln>
          <a:effectLst>
            <a:outerShdw blurRad="2032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6223000" y="1778000"/>
            <a:ext cx="2476500" cy="1143000"/>
          </a:xfrm>
          <a:prstGeom prst="roundRect">
            <a:avLst>
              <a:gd name="adj" fmla="val 13333"/>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80250" y="2032000"/>
            <a:ext cx="762000" cy="762000"/>
          </a:xfrm>
          <a:prstGeom prst="rect">
            <a:avLst/>
          </a:prstGeom>
        </p:spPr>
      </p:pic>
      <p:sp>
        <p:nvSpPr>
          <p:cNvPr id="19" name="AutoShape 19"/>
          <p:cNvSpPr/>
          <p:nvPr/>
        </p:nvSpPr>
        <p:spPr>
          <a:xfrm>
            <a:off x="6413500" y="3175000"/>
            <a:ext cx="2095500" cy="406400"/>
          </a:xfrm>
          <a:prstGeom prst="roundRect">
            <a:avLst>
              <a:gd name="adj" fmla="val 18750"/>
            </a:avLst>
          </a:prstGeom>
          <a:solidFill>
            <a:srgbClr val="98DBC6">
              <a:alpha val="25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POST /</a:t>
            </a:r>
            <a:endParaRPr lang="en-US" sz="1100"/>
          </a:p>
        </p:txBody>
      </p:sp>
      <p:sp>
        <p:nvSpPr>
          <p:cNvPr id="20" name="AutoShape 20"/>
          <p:cNvSpPr/>
          <p:nvPr/>
        </p:nvSpPr>
        <p:spPr>
          <a:xfrm>
            <a:off x="6413500" y="3810000"/>
            <a:ext cx="2095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Create New Book</a:t>
            </a:r>
            <a:endParaRPr lang="en-US" sz="1100"/>
          </a:p>
        </p:txBody>
      </p:sp>
      <p:sp>
        <p:nvSpPr>
          <p:cNvPr id="21" name="AutoShape 21"/>
          <p:cNvSpPr/>
          <p:nvPr/>
        </p:nvSpPr>
        <p:spPr>
          <a:xfrm>
            <a:off x="6282690" y="4191000"/>
            <a:ext cx="2506345" cy="1657350"/>
          </a:xfrm>
          <a:prstGeom prst="rect">
            <a:avLst/>
          </a:prstGeom>
          <a:noFill/>
          <a:ln w="12700" cap="flat" cmpd="sng">
            <a:noFill/>
            <a:prstDash val="solid"/>
            <a:round/>
          </a:ln>
        </p:spPr>
        <p:txBody>
          <a:bodyPr vert="horz" wrap="square" lIns="0" tIns="0" rIns="0" bIns="0" rtlCol="0" anchor="t" anchorCtr="0"/>
          <a:lstStyle/>
          <a:p>
            <a:pPr marL="285750" indent="-285750" algn="l">
              <a:lnSpc>
                <a:spcPct val="117000"/>
              </a:lnSpc>
              <a:buFont typeface="Wingdings" panose="05000000000000000000" charset="0"/>
              <a:buChar char="n"/>
              <a:defRPr/>
            </a:pPr>
            <a:r>
              <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Accept a JSON payload with book details. </a:t>
            </a:r>
            <a:endPar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17000"/>
              </a:lnSpc>
              <a:buFont typeface="Wingdings" panose="05000000000000000000" charset="0"/>
              <a:buChar char="n"/>
              <a:defRPr/>
            </a:pPr>
            <a:r>
              <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the persisted entity with a  201 Created  HTTP status.</a:t>
            </a:r>
            <a:endParaRPr lang="en-US" sz="1600"/>
          </a:p>
        </p:txBody>
      </p:sp>
      <p:sp>
        <p:nvSpPr>
          <p:cNvPr id="22" name="AutoShape 22"/>
          <p:cNvSpPr/>
          <p:nvPr/>
        </p:nvSpPr>
        <p:spPr>
          <a:xfrm>
            <a:off x="8953500" y="1778000"/>
            <a:ext cx="2476500" cy="4318000"/>
          </a:xfrm>
          <a:prstGeom prst="roundRect">
            <a:avLst>
              <a:gd name="adj" fmla="val 6153"/>
            </a:avLst>
          </a:prstGeom>
          <a:solidFill>
            <a:srgbClr val="FFFFFF">
              <a:alpha val="100000"/>
            </a:srgbClr>
          </a:solidFill>
          <a:ln w="25400" cap="flat" cmpd="sng">
            <a:noFill/>
            <a:prstDash val="solid"/>
            <a:round/>
          </a:ln>
          <a:effectLst>
            <a:outerShdw blurRad="2032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23" name="AutoShape 23"/>
          <p:cNvSpPr/>
          <p:nvPr/>
        </p:nvSpPr>
        <p:spPr>
          <a:xfrm>
            <a:off x="8953500" y="1778000"/>
            <a:ext cx="2476500" cy="1143000"/>
          </a:xfrm>
          <a:prstGeom prst="roundRect">
            <a:avLst>
              <a:gd name="adj" fmla="val 13333"/>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10750" y="2032000"/>
            <a:ext cx="762000" cy="762000"/>
          </a:xfrm>
          <a:prstGeom prst="rect">
            <a:avLst/>
          </a:prstGeom>
        </p:spPr>
      </p:pic>
      <p:sp>
        <p:nvSpPr>
          <p:cNvPr id="25" name="AutoShape 25"/>
          <p:cNvSpPr/>
          <p:nvPr/>
        </p:nvSpPr>
        <p:spPr>
          <a:xfrm>
            <a:off x="9144000" y="3175000"/>
            <a:ext cx="2095500" cy="406400"/>
          </a:xfrm>
          <a:prstGeom prst="roundRect">
            <a:avLst>
              <a:gd name="adj" fmla="val 18750"/>
            </a:avLst>
          </a:prstGeom>
          <a:solidFill>
            <a:srgbClr val="98DBC6">
              <a:alpha val="25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PATCH / DELETE /{id}</a:t>
            </a:r>
            <a:endParaRPr lang="en-US" sz="1100"/>
          </a:p>
        </p:txBody>
      </p:sp>
      <p:sp>
        <p:nvSpPr>
          <p:cNvPr id="26" name="AutoShape 26"/>
          <p:cNvSpPr/>
          <p:nvPr/>
        </p:nvSpPr>
        <p:spPr>
          <a:xfrm>
            <a:off x="9144000" y="3810000"/>
            <a:ext cx="2095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Update &amp; Delete</a:t>
            </a:r>
            <a:endParaRPr lang="en-US" sz="1100"/>
          </a:p>
        </p:txBody>
      </p:sp>
      <p:sp>
        <p:nvSpPr>
          <p:cNvPr id="27" name="AutoShape 27"/>
          <p:cNvSpPr/>
          <p:nvPr/>
        </p:nvSpPr>
        <p:spPr>
          <a:xfrm>
            <a:off x="9144000" y="4191000"/>
            <a:ext cx="2095500" cy="1686560"/>
          </a:xfrm>
          <a:prstGeom prst="rect">
            <a:avLst/>
          </a:prstGeom>
          <a:noFill/>
          <a:ln w="12700" cap="flat" cmpd="sng">
            <a:noFill/>
            <a:prstDash val="solid"/>
            <a:round/>
          </a:ln>
        </p:spPr>
        <p:txBody>
          <a:bodyPr vert="horz" wrap="square" lIns="0" tIns="0" rIns="0" bIns="0" rtlCol="0" anchor="t" anchorCtr="0"/>
          <a:lstStyle/>
          <a:p>
            <a:pPr marL="171450" indent="-171450" algn="l">
              <a:lnSpc>
                <a:spcPct val="117000"/>
              </a:lnSpc>
              <a:buFont typeface="Wingdings" panose="05000000000000000000" charset="0"/>
              <a:buChar char="n"/>
              <a:defRPr/>
            </a:pPr>
            <a:r>
              <a:rPr lang="en-US" sz="11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PATCH  for partial updates,  DELETE  for resource removal. </a:t>
            </a:r>
            <a:endPar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17000"/>
              </a:lnSpc>
              <a:buFont typeface="Wingdings" panose="05000000000000000000" charset="0"/>
              <a:buChar char="n"/>
              <a:defRPr/>
            </a:pPr>
            <a:r>
              <a:rPr lang="en-US" sz="1600" b="0" i="0" u="none" strike="noStrike">
                <a:solidFill>
                  <a:srgbClr val="5F5F5F"/>
                </a:solidFill>
                <a:latin typeface="Noto Sans SC" panose="020B0200000000000000" charset="-122"/>
                <a:ea typeface="Noto Sans SC" panose="020B0200000000000000" charset="-122"/>
                <a:cs typeface="Noto Sans SC" panose="020B0200000000000000" charset="-122"/>
                <a:sym typeface="Noto Sans SC" panose="020B0200000000000000" charset="-122"/>
              </a:rPr>
              <a:t>Both operations require a valid API Key.</a:t>
            </a:r>
            <a:endParaRPr 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Analytics and Health Check for Service Intelligence</a:t>
            </a:r>
            <a:endParaRPr lang="en-US" sz="1100"/>
          </a:p>
        </p:txBody>
      </p:sp>
      <p:sp>
        <p:nvSpPr>
          <p:cNvPr id="3" name="AutoShape 3"/>
          <p:cNvSpPr/>
          <p:nvPr/>
        </p:nvSpPr>
        <p:spPr>
          <a:xfrm>
            <a:off x="762000" y="11684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API Endpoints - Core Service Observability &amp; Monitoring</a:t>
            </a:r>
            <a:endParaRPr lang="en-US" sz="1100"/>
          </a:p>
        </p:txBody>
      </p:sp>
      <p:sp>
        <p:nvSpPr>
          <p:cNvPr id="4" name="AutoShape 4"/>
          <p:cNvSpPr/>
          <p:nvPr/>
        </p:nvSpPr>
        <p:spPr>
          <a:xfrm>
            <a:off x="762000" y="1905000"/>
            <a:ext cx="5207000" cy="4191000"/>
          </a:xfrm>
          <a:prstGeom prst="roundRect">
            <a:avLst>
              <a:gd name="adj" fmla="val 4848"/>
            </a:avLst>
          </a:prstGeom>
          <a:solidFill>
            <a:srgbClr val="FFFFFF">
              <a:alpha val="100000"/>
            </a:srgbClr>
          </a:solidFill>
          <a:ln w="25400" cap="flat" cmpd="sng">
            <a:noFill/>
            <a:prstDash val="solid"/>
            <a:round/>
          </a:ln>
          <a:effectLst>
            <a:outerShdw blurRad="254000" dist="76200" dir="2700000" algn="tl" rotWithShape="0">
              <a:srgbClr val="4A6B8A">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66800" y="2286000"/>
            <a:ext cx="914400" cy="914400"/>
          </a:xfrm>
          <a:prstGeom prst="ellipse">
            <a:avLst/>
          </a:prstGeom>
          <a:solidFill>
            <a:srgbClr val="E8F7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489200"/>
            <a:ext cx="508000" cy="508000"/>
          </a:xfrm>
          <a:prstGeom prst="rect">
            <a:avLst/>
          </a:prstGeom>
        </p:spPr>
      </p:pic>
      <p:sp>
        <p:nvSpPr>
          <p:cNvPr id="7" name="AutoShape 7"/>
          <p:cNvSpPr/>
          <p:nvPr/>
        </p:nvSpPr>
        <p:spPr>
          <a:xfrm>
            <a:off x="2235200" y="2413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GET /api/v1/analytics/summary</a:t>
            </a:r>
            <a:endParaRPr lang="en-US" sz="1100"/>
          </a:p>
        </p:txBody>
      </p:sp>
      <p:cxnSp>
        <p:nvCxnSpPr>
          <p:cNvPr id="8" name="Connector 8"/>
          <p:cNvCxnSpPr/>
          <p:nvPr/>
        </p:nvCxnSpPr>
        <p:spPr>
          <a:xfrm rot="-9496">
            <a:off x="1066809" y="3422650"/>
            <a:ext cx="4597400" cy="12700"/>
          </a:xfrm>
          <a:prstGeom prst="straightConnector1">
            <a:avLst/>
          </a:prstGeom>
          <a:solidFill>
            <a:srgbClr val="DEE0E3">
              <a:alpha val="100000"/>
            </a:srgbClr>
          </a:solidFill>
          <a:ln w="12700" cap="flat" cmpd="sng">
            <a:solidFill>
              <a:srgbClr val="E0E2E6">
                <a:alpha val="100000"/>
              </a:srgbClr>
            </a:solidFill>
            <a:prstDash val="solid"/>
            <a:round/>
            <a:headEnd type="none" w="med" len="med"/>
            <a:tailEnd type="none" w="med" len="med"/>
          </a:ln>
        </p:spPr>
      </p:cxnSp>
      <p:sp>
        <p:nvSpPr>
          <p:cNvPr id="9" name="AutoShape 9"/>
          <p:cNvSpPr/>
          <p:nvPr/>
        </p:nvSpPr>
        <p:spPr>
          <a:xfrm>
            <a:off x="1066800" y="3683000"/>
            <a:ext cx="4597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Genre Statistics</a:t>
            </a:r>
            <a:endParaRPr lang="en-US" sz="1100"/>
          </a:p>
        </p:txBody>
      </p:sp>
      <p:sp>
        <p:nvSpPr>
          <p:cNvPr id="10" name="AutoShape 10"/>
          <p:cNvSpPr/>
          <p:nvPr/>
        </p:nvSpPr>
        <p:spPr>
          <a:xfrm>
            <a:off x="834390" y="4191000"/>
            <a:ext cx="4829810" cy="1016000"/>
          </a:xfrm>
          <a:prstGeom prst="rect">
            <a:avLst/>
          </a:prstGeom>
          <a:noFill/>
          <a:ln w="12700" cap="flat" cmpd="sng">
            <a:noFill/>
            <a:prstDash val="solid"/>
            <a:round/>
          </a:ln>
        </p:spPr>
        <p:txBody>
          <a:bodyPr vert="horz" wrap="square" lIns="0" tIns="0" rIns="0" bIns="0" rtlCol="0" anchor="ctr" anchorCtr="0"/>
          <a:lstStyle/>
          <a:p>
            <a:pPr marL="285750" indent="-285750" algn="l">
              <a:lnSpc>
                <a:spcPct val="117000"/>
              </a:lnSpc>
              <a:buFont typeface="Wingdings" panose="05000000000000000000" charset="0"/>
              <a:buChar char="u"/>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aggregated metrics grouped by book genre, including</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book_count </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and</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average_rating </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17000"/>
              </a:lnSpc>
              <a:buFont typeface="Wingdings" panose="05000000000000000000" charset="0"/>
              <a:buChar char="u"/>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Designed for dashboard visualization and business intelligence queries.</a:t>
            </a:r>
            <a:endParaRPr lang="en-US" sz="1600"/>
          </a:p>
        </p:txBody>
      </p:sp>
      <p:sp>
        <p:nvSpPr>
          <p:cNvPr id="11" name="AutoShape 11"/>
          <p:cNvSpPr/>
          <p:nvPr/>
        </p:nvSpPr>
        <p:spPr>
          <a:xfrm>
            <a:off x="1066800" y="5334000"/>
            <a:ext cx="1270000" cy="406400"/>
          </a:xfrm>
          <a:prstGeom prst="roundRect">
            <a:avLst>
              <a:gd name="adj" fmla="val 50000"/>
            </a:avLst>
          </a:prstGeom>
          <a:solidFill>
            <a:srgbClr val="4A6B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Read-only</a:t>
            </a:r>
            <a:endParaRPr lang="en-US" sz="1100"/>
          </a:p>
        </p:txBody>
      </p:sp>
      <p:sp>
        <p:nvSpPr>
          <p:cNvPr id="12" name="AutoShape 12"/>
          <p:cNvSpPr/>
          <p:nvPr/>
        </p:nvSpPr>
        <p:spPr>
          <a:xfrm>
            <a:off x="2463800" y="5334000"/>
            <a:ext cx="1524000" cy="406400"/>
          </a:xfrm>
          <a:prstGeom prst="roundRect">
            <a:avLst>
              <a:gd name="adj" fmla="val 50000"/>
            </a:avLst>
          </a:prstGeom>
          <a:solidFill>
            <a:srgbClr val="98DBC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No API Key</a:t>
            </a:r>
            <a:endParaRPr lang="en-US" sz="1100"/>
          </a:p>
        </p:txBody>
      </p:sp>
      <p:sp>
        <p:nvSpPr>
          <p:cNvPr id="13" name="AutoShape 13"/>
          <p:cNvSpPr/>
          <p:nvPr/>
        </p:nvSpPr>
        <p:spPr>
          <a:xfrm>
            <a:off x="6223000" y="1905000"/>
            <a:ext cx="5207000" cy="4191000"/>
          </a:xfrm>
          <a:prstGeom prst="roundRect">
            <a:avLst>
              <a:gd name="adj" fmla="val 4848"/>
            </a:avLst>
          </a:prstGeom>
          <a:solidFill>
            <a:srgbClr val="FFFFFF">
              <a:alpha val="100000"/>
            </a:srgbClr>
          </a:solidFill>
          <a:ln w="25400" cap="flat" cmpd="sng">
            <a:noFill/>
            <a:prstDash val="solid"/>
            <a:round/>
          </a:ln>
          <a:effectLst>
            <a:outerShdw blurRad="254000" dist="76200" dir="2700000" algn="tl" rotWithShape="0">
              <a:srgbClr val="4A6B8A">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6527800" y="2286000"/>
            <a:ext cx="914400" cy="914400"/>
          </a:xfrm>
          <a:prstGeom prst="ellipse">
            <a:avLst/>
          </a:prstGeom>
          <a:solidFill>
            <a:srgbClr val="E8F7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2489200"/>
            <a:ext cx="508000" cy="508000"/>
          </a:xfrm>
          <a:prstGeom prst="rect">
            <a:avLst/>
          </a:prstGeom>
        </p:spPr>
      </p:pic>
      <p:sp>
        <p:nvSpPr>
          <p:cNvPr id="16" name="AutoShape 16"/>
          <p:cNvSpPr/>
          <p:nvPr/>
        </p:nvSpPr>
        <p:spPr>
          <a:xfrm>
            <a:off x="7696200" y="2413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GET /health</a:t>
            </a:r>
            <a:endParaRPr lang="en-US" sz="1100"/>
          </a:p>
        </p:txBody>
      </p:sp>
      <p:cxnSp>
        <p:nvCxnSpPr>
          <p:cNvPr id="17" name="Connector 17"/>
          <p:cNvCxnSpPr/>
          <p:nvPr/>
        </p:nvCxnSpPr>
        <p:spPr>
          <a:xfrm rot="-9496">
            <a:off x="6527809" y="3422650"/>
            <a:ext cx="4597400" cy="12700"/>
          </a:xfrm>
          <a:prstGeom prst="straightConnector1">
            <a:avLst/>
          </a:prstGeom>
          <a:solidFill>
            <a:srgbClr val="DEE0E3">
              <a:alpha val="100000"/>
            </a:srgbClr>
          </a:solidFill>
          <a:ln w="12700" cap="flat" cmpd="sng">
            <a:solidFill>
              <a:srgbClr val="E0E2E6">
                <a:alpha val="100000"/>
              </a:srgbClr>
            </a:solidFill>
            <a:prstDash val="solid"/>
            <a:round/>
            <a:headEnd type="none" w="med" len="med"/>
            <a:tailEnd type="none" w="med" len="med"/>
          </a:ln>
        </p:spPr>
      </p:cxnSp>
      <p:sp>
        <p:nvSpPr>
          <p:cNvPr id="18" name="AutoShape 18"/>
          <p:cNvSpPr/>
          <p:nvPr/>
        </p:nvSpPr>
        <p:spPr>
          <a:xfrm>
            <a:off x="6527800" y="3683000"/>
            <a:ext cx="4597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Lightweight Liveness Probe</a:t>
            </a:r>
            <a:endParaRPr lang="en-US" sz="1100"/>
          </a:p>
        </p:txBody>
      </p:sp>
      <p:sp>
        <p:nvSpPr>
          <p:cNvPr id="19" name="AutoShape 19"/>
          <p:cNvSpPr/>
          <p:nvPr/>
        </p:nvSpPr>
        <p:spPr>
          <a:xfrm>
            <a:off x="6223000" y="4191000"/>
            <a:ext cx="4902200" cy="1016000"/>
          </a:xfrm>
          <a:prstGeom prst="rect">
            <a:avLst/>
          </a:prstGeom>
          <a:noFill/>
          <a:ln w="12700" cap="flat" cmpd="sng">
            <a:noFill/>
            <a:prstDash val="solid"/>
            <a:round/>
          </a:ln>
        </p:spPr>
        <p:txBody>
          <a:bodyPr vert="horz" wrap="square" lIns="0" tIns="0" rIns="0" bIns="0" rtlCol="0" anchor="ctr" anchorCtr="0"/>
          <a:lstStyle/>
          <a:p>
            <a:pPr marL="285750" indent="-285750" algn="l">
              <a:lnSpc>
                <a:spcPct val="117000"/>
              </a:lnSpc>
              <a:buFont typeface="Wingdings" panose="05000000000000000000" charset="0"/>
              <a:buChar char="u"/>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minimal JSON</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 status " : " ok " } </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Do not access business tables or databases, making it the perfect tool for Kubernetes liveness checks and uptime monitoring scripts.</a:t>
            </a:r>
            <a:endParaRPr lang="en-US" sz="1600"/>
          </a:p>
        </p:txBody>
      </p:sp>
      <p:sp>
        <p:nvSpPr>
          <p:cNvPr id="20" name="AutoShape 20"/>
          <p:cNvSpPr/>
          <p:nvPr/>
        </p:nvSpPr>
        <p:spPr>
          <a:xfrm>
            <a:off x="6527800" y="5334000"/>
            <a:ext cx="1270000" cy="406400"/>
          </a:xfrm>
          <a:prstGeom prst="roundRect">
            <a:avLst>
              <a:gd name="adj" fmla="val 50000"/>
            </a:avLst>
          </a:prstGeom>
          <a:solidFill>
            <a:srgbClr val="4A6B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Lightweight</a:t>
            </a:r>
            <a:endParaRPr lang="en-US" sz="1100"/>
          </a:p>
        </p:txBody>
      </p:sp>
      <p:sp>
        <p:nvSpPr>
          <p:cNvPr id="21" name="AutoShape 21"/>
          <p:cNvSpPr/>
          <p:nvPr/>
        </p:nvSpPr>
        <p:spPr>
          <a:xfrm>
            <a:off x="7924800" y="5334000"/>
            <a:ext cx="1524000" cy="406400"/>
          </a:xfrm>
          <a:prstGeom prst="roundRect">
            <a:avLst>
              <a:gd name="adj" fmla="val 50000"/>
            </a:avLst>
          </a:prstGeom>
          <a:solidFill>
            <a:srgbClr val="98DBC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No DB Access</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92100" y="64770"/>
            <a:ext cx="11983085" cy="8877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Automated OpenAPI Documentation Improves Developer Experience</a:t>
            </a:r>
            <a:endParaRPr lang="en-US" sz="2800"/>
          </a:p>
        </p:txBody>
      </p:sp>
      <p:sp>
        <p:nvSpPr>
          <p:cNvPr id="3" name="AutoShape 3"/>
          <p:cNvSpPr/>
          <p:nvPr/>
        </p:nvSpPr>
        <p:spPr>
          <a:xfrm>
            <a:off x="762000" y="1143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API Documentation - OpenAPI 3.0 Specification &amp; Swagger Ecosystem</a:t>
            </a:r>
            <a:endParaRPr lang="en-US" sz="1100"/>
          </a:p>
        </p:txBody>
      </p:sp>
      <p:sp>
        <p:nvSpPr>
          <p:cNvPr id="4" name="AutoShape 4"/>
          <p:cNvSpPr/>
          <p:nvPr/>
        </p:nvSpPr>
        <p:spPr>
          <a:xfrm>
            <a:off x="762000" y="1778000"/>
            <a:ext cx="4826000" cy="1397000"/>
          </a:xfrm>
          <a:prstGeom prst="roundRect">
            <a:avLst>
              <a:gd name="adj" fmla="val 10909"/>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508000" cy="508000"/>
          </a:xfrm>
          <a:prstGeom prst="rect">
            <a:avLst/>
          </a:prstGeom>
        </p:spPr>
      </p:pic>
      <p:sp>
        <p:nvSpPr>
          <p:cNvPr id="6" name="AutoShape 6"/>
          <p:cNvSpPr/>
          <p:nvPr/>
        </p:nvSpPr>
        <p:spPr>
          <a:xfrm>
            <a:off x="1778000" y="1968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Auto-Generated Specs</a:t>
            </a:r>
            <a:endParaRPr lang="en-US" sz="1100"/>
          </a:p>
        </p:txBody>
      </p:sp>
      <p:sp>
        <p:nvSpPr>
          <p:cNvPr id="7" name="AutoShape 7"/>
          <p:cNvSpPr/>
          <p:nvPr/>
        </p:nvSpPr>
        <p:spPr>
          <a:xfrm>
            <a:off x="1778000" y="2349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FastAPI builds OpenAPI 3.0 docs directly from Python type hints. Eliminates manual updates, ensuring docs are always in perfect sync with code.</a:t>
            </a:r>
            <a:endParaRPr lang="en-US" sz="1100"/>
          </a:p>
        </p:txBody>
      </p:sp>
      <p:sp>
        <p:nvSpPr>
          <p:cNvPr id="8" name="AutoShape 8"/>
          <p:cNvSpPr/>
          <p:nvPr/>
        </p:nvSpPr>
        <p:spPr>
          <a:xfrm>
            <a:off x="762000" y="3429000"/>
            <a:ext cx="4826000" cy="1524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508000" cy="508000"/>
          </a:xfrm>
          <a:prstGeom prst="rect">
            <a:avLst/>
          </a:prstGeom>
        </p:spPr>
      </p:pic>
      <p:sp>
        <p:nvSpPr>
          <p:cNvPr id="10" name="AutoShape 10"/>
          <p:cNvSpPr/>
          <p:nvPr/>
        </p:nvSpPr>
        <p:spPr>
          <a:xfrm>
            <a:off x="1778000" y="3619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Dual Interactive Interfaces</a:t>
            </a:r>
            <a:endParaRPr lang="en-US" sz="1100"/>
          </a:p>
        </p:txBody>
      </p:sp>
      <p:sp>
        <p:nvSpPr>
          <p:cNvPr id="11" name="AutoShape 11"/>
          <p:cNvSpPr/>
          <p:nvPr/>
        </p:nvSpPr>
        <p:spPr>
          <a:xfrm>
            <a:off x="1778000" y="4000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Swagger UI ( /docs ):</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Explore/test endpoints visually in-browser.</a:t>
            </a:r>
            <a:endParaRPr lang="en-US" sz="1100"/>
          </a:p>
          <a:p>
            <a:pPr indent="0" algn="l">
              <a:lnSpc>
                <a:spcPct val="108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ReDoc ( /redoc ):</a:t>
            </a: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Clean, professional, and responsive documentation layout.</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5207000"/>
            <a:ext cx="4826000" cy="1143000"/>
          </a:xfrm>
          <a:prstGeom prst="roundRect">
            <a:avLst>
              <a:gd name="adj" fmla="val 13333"/>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461000"/>
            <a:ext cx="508000" cy="508000"/>
          </a:xfrm>
          <a:prstGeom prst="rect">
            <a:avLst/>
          </a:prstGeom>
        </p:spPr>
      </p:pic>
      <p:sp>
        <p:nvSpPr>
          <p:cNvPr id="14" name="AutoShape 14"/>
          <p:cNvSpPr/>
          <p:nvPr/>
        </p:nvSpPr>
        <p:spPr>
          <a:xfrm>
            <a:off x="1778000" y="5397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 &amp; Benefits</a:t>
            </a:r>
            <a:endParaRPr lang="en-US" sz="1100"/>
          </a:p>
        </p:txBody>
      </p:sp>
      <p:sp>
        <p:nvSpPr>
          <p:cNvPr id="15" name="AutoShape 15"/>
          <p:cNvSpPr/>
          <p:nvPr/>
        </p:nvSpPr>
        <p:spPr>
          <a:xfrm>
            <a:off x="1778000" y="5778500"/>
            <a:ext cx="3556000" cy="60896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Reduce maintenance overhead, provides a machine-readable contract, and significantly boosts developer onboarding speed.</a:t>
            </a:r>
            <a:endParaRPr lang="en-US" sz="1100"/>
          </a:p>
        </p:txBody>
      </p:sp>
      <p:sp>
        <p:nvSpPr>
          <p:cNvPr id="16" name="AutoShape 16"/>
          <p:cNvSpPr/>
          <p:nvPr/>
        </p:nvSpPr>
        <p:spPr>
          <a:xfrm>
            <a:off x="5842000" y="1778000"/>
            <a:ext cx="5588000" cy="4572000"/>
          </a:xfrm>
          <a:prstGeom prst="roundRect">
            <a:avLst>
              <a:gd name="adj" fmla="val 4444"/>
            </a:avLst>
          </a:prstGeom>
          <a:solidFill>
            <a:srgbClr val="FFFFFF">
              <a:alpha val="100000"/>
            </a:srgbClr>
          </a:solidFill>
          <a:ln w="25400" cap="flat" cmpd="sng">
            <a:noFill/>
            <a:prstDash val="solid"/>
            <a:round/>
          </a:ln>
          <a:effectLst>
            <a:outerShdw blurRad="254000" dist="101600" dir="5400000" algn="tl" rotWithShape="0">
              <a:srgbClr val="000000">
                <a:alpha val="10000"/>
              </a:srgbClr>
            </a:outerShdw>
          </a:effectLst>
        </p:spPr>
        <p:txBody>
          <a:bodyPr vert="horz" wrap="square" lIns="63500" tIns="63500" rIns="63500" bIns="63500" rtlCol="0" anchor="ctr"/>
          <a:lstStyle/>
          <a:p>
            <a:pPr algn="ctr">
              <a:defRPr/>
            </a:pPr>
          </a:p>
        </p:txBody>
      </p:sp>
      <p:sp>
        <p:nvSpPr>
          <p:cNvPr id="17" name="AutoShape 17"/>
          <p:cNvSpPr/>
          <p:nvPr/>
        </p:nvSpPr>
        <p:spPr>
          <a:xfrm>
            <a:off x="6096000" y="2032000"/>
            <a:ext cx="5080000" cy="635000"/>
          </a:xfrm>
          <a:prstGeom prst="roundRect">
            <a:avLst>
              <a:gd name="adj" fmla="val 16000"/>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6500" y="2171700"/>
            <a:ext cx="355600" cy="355600"/>
          </a:xfrm>
          <a:prstGeom prst="rect">
            <a:avLst/>
          </a:prstGeom>
        </p:spPr>
      </p:pic>
      <p:sp>
        <p:nvSpPr>
          <p:cNvPr id="19" name="AutoShape 19"/>
          <p:cNvSpPr/>
          <p:nvPr/>
        </p:nvSpPr>
        <p:spPr>
          <a:xfrm>
            <a:off x="6858000" y="2184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Swagger UI Live Preview (/docs)</a:t>
            </a:r>
            <a:endParaRPr lang="en-US" sz="1100"/>
          </a:p>
        </p:txBody>
      </p:sp>
      <p:sp>
        <p:nvSpPr>
          <p:cNvPr id="20" name="AutoShape 20"/>
          <p:cNvSpPr/>
          <p:nvPr/>
        </p:nvSpPr>
        <p:spPr>
          <a:xfrm>
            <a:off x="6096000" y="2921000"/>
            <a:ext cx="2413000" cy="2159000"/>
          </a:xfrm>
          <a:prstGeom prst="roundRect">
            <a:avLst>
              <a:gd name="adj" fmla="val 4705"/>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286500" y="3048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Available Endpoints</a:t>
            </a:r>
            <a:endParaRPr lang="en-US" sz="1100"/>
          </a:p>
        </p:txBody>
      </p:sp>
      <p:sp>
        <p:nvSpPr>
          <p:cNvPr id="22" name="AutoShape 22"/>
          <p:cNvSpPr/>
          <p:nvPr/>
        </p:nvSpPr>
        <p:spPr>
          <a:xfrm>
            <a:off x="6286500" y="3429000"/>
            <a:ext cx="2032000" cy="381000"/>
          </a:xfrm>
          <a:prstGeom prst="roundRect">
            <a:avLst>
              <a:gd name="adj" fmla="val 2000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413500" y="3492500"/>
            <a:ext cx="177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[GET] /api/v1/users</a:t>
            </a:r>
            <a:endParaRPr lang="en-US" sz="1100"/>
          </a:p>
        </p:txBody>
      </p:sp>
      <p:sp>
        <p:nvSpPr>
          <p:cNvPr id="24" name="AutoShape 24"/>
          <p:cNvSpPr/>
          <p:nvPr/>
        </p:nvSpPr>
        <p:spPr>
          <a:xfrm>
            <a:off x="6286500" y="3937000"/>
            <a:ext cx="2032000" cy="381000"/>
          </a:xfrm>
          <a:prstGeom prst="roundRect">
            <a:avLst>
              <a:gd name="adj" fmla="val 2000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413500" y="4000500"/>
            <a:ext cx="177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[POST] /api/v1/items</a:t>
            </a:r>
            <a:endParaRPr lang="en-US" sz="1100"/>
          </a:p>
        </p:txBody>
      </p:sp>
      <p:sp>
        <p:nvSpPr>
          <p:cNvPr id="26" name="AutoShape 26"/>
          <p:cNvSpPr/>
          <p:nvPr/>
        </p:nvSpPr>
        <p:spPr>
          <a:xfrm>
            <a:off x="6286500" y="4445000"/>
            <a:ext cx="2032000" cy="381000"/>
          </a:xfrm>
          <a:prstGeom prst="roundRect">
            <a:avLst>
              <a:gd name="adj" fmla="val 2000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413500" y="4508500"/>
            <a:ext cx="177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[PUT] /api/v1/items/{id}</a:t>
            </a:r>
            <a:endParaRPr lang="en-US" sz="1100"/>
          </a:p>
        </p:txBody>
      </p:sp>
      <p:sp>
        <p:nvSpPr>
          <p:cNvPr id="28" name="AutoShape 28"/>
          <p:cNvSpPr/>
          <p:nvPr/>
        </p:nvSpPr>
        <p:spPr>
          <a:xfrm>
            <a:off x="8763000" y="2921000"/>
            <a:ext cx="2413000" cy="2159000"/>
          </a:xfrm>
          <a:prstGeom prst="roundRect">
            <a:avLst>
              <a:gd name="adj" fmla="val 4705"/>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953500" y="3048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Try it Out &amp; Execute</a:t>
            </a:r>
            <a:endParaRPr lang="en-US" sz="1100"/>
          </a:p>
        </p:txBody>
      </p:sp>
      <p:sp>
        <p:nvSpPr>
          <p:cNvPr id="30" name="AutoShape 30"/>
          <p:cNvSpPr/>
          <p:nvPr/>
        </p:nvSpPr>
        <p:spPr>
          <a:xfrm>
            <a:off x="8953500" y="3429000"/>
            <a:ext cx="2032000" cy="457200"/>
          </a:xfrm>
          <a:prstGeom prst="roundRect">
            <a:avLst>
              <a:gd name="adj" fmla="val 22222"/>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953500" y="3530600"/>
            <a:ext cx="2032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Send Request</a:t>
            </a:r>
            <a:endParaRPr lang="en-US" sz="1100"/>
          </a:p>
        </p:txBody>
      </p:sp>
      <p:sp>
        <p:nvSpPr>
          <p:cNvPr id="32" name="AutoShape 32"/>
          <p:cNvSpPr/>
          <p:nvPr/>
        </p:nvSpPr>
        <p:spPr>
          <a:xfrm>
            <a:off x="8953500" y="4064000"/>
            <a:ext cx="2032000" cy="825500"/>
          </a:xfrm>
          <a:prstGeom prst="roundRect">
            <a:avLst>
              <a:gd name="adj" fmla="val 12307"/>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9080500" y="4165600"/>
            <a:ext cx="177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200 OK (Success)</a:t>
            </a:r>
            <a:endParaRPr lang="en-US" sz="1100"/>
          </a:p>
        </p:txBody>
      </p:sp>
      <p:sp>
        <p:nvSpPr>
          <p:cNvPr id="34" name="AutoShape 34"/>
          <p:cNvSpPr/>
          <p:nvPr/>
        </p:nvSpPr>
        <p:spPr>
          <a:xfrm>
            <a:off x="9080500" y="4445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 "id": 1, "name": "Item" }</a:t>
            </a:r>
            <a:endParaRPr lang="en-US" sz="1100"/>
          </a:p>
        </p:txBody>
      </p:sp>
      <p:sp>
        <p:nvSpPr>
          <p:cNvPr id="35" name="AutoShape 35"/>
          <p:cNvSpPr/>
          <p:nvPr/>
        </p:nvSpPr>
        <p:spPr>
          <a:xfrm>
            <a:off x="6096000" y="5334000"/>
            <a:ext cx="5080000" cy="571500"/>
          </a:xfrm>
          <a:prstGeom prst="roundRect">
            <a:avLst>
              <a:gd name="adj" fmla="val 17777"/>
            </a:avLst>
          </a:prstGeom>
          <a:solidFill>
            <a:srgbClr val="F4F5F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86500" y="5486400"/>
            <a:ext cx="254000" cy="254000"/>
          </a:xfrm>
          <a:prstGeom prst="rect">
            <a:avLst/>
          </a:prstGeom>
        </p:spPr>
      </p:pic>
      <p:sp>
        <p:nvSpPr>
          <p:cNvPr id="37" name="AutoShape 37"/>
          <p:cNvSpPr/>
          <p:nvPr/>
        </p:nvSpPr>
        <p:spPr>
          <a:xfrm>
            <a:off x="6731000" y="5461000"/>
            <a:ext cx="419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Visual Schema Validation &amp; Real-time Response Testing</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Secure and Configurable Service Operations</a:t>
            </a:r>
            <a:endParaRPr lang="en-US" sz="1100"/>
          </a:p>
        </p:txBody>
      </p:sp>
      <p:sp>
        <p:nvSpPr>
          <p:cNvPr id="3" name="AutoShape 3"/>
          <p:cNvSpPr/>
          <p:nvPr/>
        </p:nvSpPr>
        <p:spPr>
          <a:xfrm>
            <a:off x="762000" y="1143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Security Architecture &amp; Configuration Management Best Practices</a:t>
            </a:r>
            <a:endParaRPr lang="en-US" sz="1100"/>
          </a:p>
        </p:txBody>
      </p:sp>
      <p:sp>
        <p:nvSpPr>
          <p:cNvPr id="4" name="AutoShape 4"/>
          <p:cNvSpPr/>
          <p:nvPr>
            <p:custDataLst>
              <p:tags r:id="rId1"/>
            </p:custDataLst>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254000" dist="63500" dir="5400000" algn="tl" rotWithShape="0">
              <a:srgbClr val="4A6B8A">
                <a:alpha val="10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778000"/>
            <a:ext cx="5207000" cy="76200"/>
          </a:xfrm>
          <a:prstGeom prst="roundRect">
            <a:avLst>
              <a:gd name="adj" fmla="val 0"/>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016000" y="2159000"/>
            <a:ext cx="812800" cy="812800"/>
          </a:xfrm>
          <a:prstGeom prst="ellipse">
            <a:avLst/>
          </a:prstGeom>
          <a:solidFill>
            <a:srgbClr val="4A6B8A">
              <a:alpha val="1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19200" y="2362200"/>
            <a:ext cx="406400" cy="406400"/>
          </a:xfrm>
          <a:prstGeom prst="rect">
            <a:avLst/>
          </a:prstGeom>
        </p:spPr>
      </p:pic>
      <p:sp>
        <p:nvSpPr>
          <p:cNvPr id="8" name="AutoShape 8"/>
          <p:cNvSpPr/>
          <p:nvPr>
            <p:custDataLst>
              <p:tags r:id="rId7"/>
            </p:custDataLst>
          </p:nvPr>
        </p:nvSpPr>
        <p:spPr>
          <a:xfrm>
            <a:off x="2032000" y="22225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API Key Authentication</a:t>
            </a:r>
            <a:endParaRPr lang="en-US" sz="1100"/>
          </a:p>
        </p:txBody>
      </p:sp>
      <p:sp>
        <p:nvSpPr>
          <p:cNvPr id="9" name="AutoShape 9"/>
          <p:cNvSpPr/>
          <p:nvPr>
            <p:custDataLst>
              <p:tags r:id="rId8"/>
            </p:custDataLst>
          </p:nvPr>
        </p:nvSpPr>
        <p:spPr>
          <a:xfrm>
            <a:off x="2032000" y="27305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8DBC6"/>
                </a:solidFill>
                <a:latin typeface="Noto Sans SC" panose="020B0200000000000000" charset="-122"/>
                <a:ea typeface="Noto Sans SC" panose="020B0200000000000000" charset="-122"/>
                <a:cs typeface="Noto Sans SC" panose="020B0200000000000000" charset="-122"/>
                <a:sym typeface="Noto Sans SC" panose="020B0200000000000000" charset="-122"/>
              </a:rPr>
              <a:t>AUTHENTICATION STRATEGY</a:t>
            </a:r>
            <a:endParaRPr lang="en-US" sz="1100"/>
          </a:p>
        </p:txBody>
      </p:sp>
      <p:cxnSp>
        <p:nvCxnSpPr>
          <p:cNvPr id="10" name="Connector 10"/>
          <p:cNvCxnSpPr/>
          <p:nvPr>
            <p:custDataLst>
              <p:tags r:id="rId9"/>
            </p:custDataLst>
          </p:nvPr>
        </p:nvCxnSpPr>
        <p:spPr>
          <a:xfrm rot="-9291">
            <a:off x="1016009" y="3232150"/>
            <a:ext cx="4699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1" name="AutoShape 11"/>
          <p:cNvSpPr/>
          <p:nvPr>
            <p:custDataLst>
              <p:tags r:id="rId10"/>
            </p:custDataLst>
          </p:nvPr>
        </p:nvSpPr>
        <p:spPr>
          <a:xfrm>
            <a:off x="1016000" y="3573780"/>
            <a:ext cx="4699000" cy="1587500"/>
          </a:xfrm>
          <a:prstGeom prst="rect">
            <a:avLst/>
          </a:prstGeom>
          <a:noFill/>
          <a:ln w="12700" cap="flat" cmpd="sng">
            <a:noFill/>
            <a:prstDash val="solid"/>
            <a:round/>
          </a:ln>
        </p:spPr>
        <p:txBody>
          <a:bodyPr vert="horz" wrap="square" lIns="0" tIns="0" rIns="0" bIns="0" rtlCol="0" anchor="ctr" anchorCtr="0"/>
          <a:lstStyle/>
          <a:p>
            <a:pPr marL="285750" indent="-285750" algn="l">
              <a:lnSpc>
                <a:spcPct val="125000"/>
              </a:lnSpc>
              <a:buFont typeface="Arial" panose="020B0604020202020204" pitchFamily="34" charset="0"/>
              <a:buChar char="•"/>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Mutating endpoints ( POST,  PATCH,  DELETE ) require a valid </a:t>
            </a:r>
            <a:r>
              <a:rPr lang="en-US" sz="16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X-API-Key</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header for authorization. </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25000"/>
              </a:lnSpc>
              <a:buFont typeface="Arial" panose="020B0604020202020204" pitchFamily="34" charset="0"/>
              <a:buChar char="•"/>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 </a:t>
            </a:r>
            <a:r>
              <a:rPr lang="en-US" sz="16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DISABLE_AUTH</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flag is provided for local development workflows. This model offers a lightweight security layer suitable for demos or internal single-team microservices.</a:t>
            </a:r>
            <a:endParaRPr lang="en-US" sz="1600"/>
          </a:p>
        </p:txBody>
      </p:sp>
      <p:sp>
        <p:nvSpPr>
          <p:cNvPr id="12" name="AutoShape 12"/>
          <p:cNvSpPr/>
          <p:nvPr>
            <p:custDataLst>
              <p:tags r:id="rId11"/>
            </p:custDataLst>
          </p:nvPr>
        </p:nvSpPr>
        <p:spPr>
          <a:xfrm>
            <a:off x="6223000" y="1778000"/>
            <a:ext cx="5207000" cy="4318000"/>
          </a:xfrm>
          <a:prstGeom prst="roundRect">
            <a:avLst>
              <a:gd name="adj" fmla="val 3529"/>
            </a:avLst>
          </a:prstGeom>
          <a:solidFill>
            <a:srgbClr val="FFFFFF">
              <a:alpha val="100000"/>
            </a:srgbClr>
          </a:solidFill>
          <a:ln w="25400" cap="flat" cmpd="sng">
            <a:noFill/>
            <a:prstDash val="solid"/>
            <a:round/>
          </a:ln>
          <a:effectLst>
            <a:outerShdw blurRad="254000" dist="63500" dir="5400000" algn="tl" rotWithShape="0">
              <a:srgbClr val="98DBC6">
                <a:alpha val="15000"/>
              </a:srgbClr>
            </a:outerShdw>
          </a:effectLst>
        </p:spPr>
        <p:txBody>
          <a:bodyPr vert="horz" wrap="square" lIns="63500" tIns="63500" rIns="63500" bIns="63500" rtlCol="0" anchor="ctr"/>
          <a:lstStyle/>
          <a:p>
            <a:pPr algn="ctr">
              <a:defRPr/>
            </a:pPr>
          </a:p>
        </p:txBody>
      </p:sp>
      <p:sp>
        <p:nvSpPr>
          <p:cNvPr id="13" name="AutoShape 13"/>
          <p:cNvSpPr/>
          <p:nvPr>
            <p:custDataLst>
              <p:tags r:id="rId12"/>
            </p:custDataLst>
          </p:nvPr>
        </p:nvSpPr>
        <p:spPr>
          <a:xfrm>
            <a:off x="6223000" y="1778000"/>
            <a:ext cx="5207000" cy="762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3"/>
            </p:custDataLst>
          </p:nvPr>
        </p:nvSpPr>
        <p:spPr>
          <a:xfrm>
            <a:off x="6477000" y="2159000"/>
            <a:ext cx="812800" cy="812800"/>
          </a:xfrm>
          <a:prstGeom prst="ellipse">
            <a:avLst/>
          </a:prstGeom>
          <a:solidFill>
            <a:srgbClr val="98DBC6">
              <a:alpha val="2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80200" y="2362200"/>
            <a:ext cx="406400" cy="406400"/>
          </a:xfrm>
          <a:prstGeom prst="rect">
            <a:avLst/>
          </a:prstGeom>
        </p:spPr>
      </p:pic>
      <p:sp>
        <p:nvSpPr>
          <p:cNvPr id="16" name="AutoShape 16"/>
          <p:cNvSpPr/>
          <p:nvPr>
            <p:custDataLst>
              <p:tags r:id="rId17"/>
            </p:custDataLst>
          </p:nvPr>
        </p:nvSpPr>
        <p:spPr>
          <a:xfrm>
            <a:off x="7493000" y="22225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Environment-Based Settings</a:t>
            </a:r>
            <a:endParaRPr lang="en-US" sz="1100"/>
          </a:p>
        </p:txBody>
      </p:sp>
      <p:sp>
        <p:nvSpPr>
          <p:cNvPr id="17" name="AutoShape 17"/>
          <p:cNvSpPr/>
          <p:nvPr>
            <p:custDataLst>
              <p:tags r:id="rId18"/>
            </p:custDataLst>
          </p:nvPr>
        </p:nvSpPr>
        <p:spPr>
          <a:xfrm>
            <a:off x="7493000" y="27305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CONFIGURATION MANAGEMENT</a:t>
            </a:r>
            <a:endParaRPr lang="en-US" sz="1100"/>
          </a:p>
        </p:txBody>
      </p:sp>
      <p:cxnSp>
        <p:nvCxnSpPr>
          <p:cNvPr id="18" name="Connector 18"/>
          <p:cNvCxnSpPr/>
          <p:nvPr>
            <p:custDataLst>
              <p:tags r:id="rId19"/>
            </p:custDataLst>
          </p:nvPr>
        </p:nvCxnSpPr>
        <p:spPr>
          <a:xfrm rot="-9291">
            <a:off x="6477009" y="3232150"/>
            <a:ext cx="4699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9" name="AutoShape 19"/>
          <p:cNvSpPr/>
          <p:nvPr>
            <p:custDataLst>
              <p:tags r:id="rId20"/>
            </p:custDataLst>
          </p:nvPr>
        </p:nvSpPr>
        <p:spPr>
          <a:xfrm>
            <a:off x="6373495" y="3627120"/>
            <a:ext cx="4906645" cy="1944370"/>
          </a:xfrm>
          <a:prstGeom prst="rect">
            <a:avLst/>
          </a:prstGeom>
          <a:noFill/>
          <a:ln w="12700" cap="flat" cmpd="sng">
            <a:noFill/>
            <a:prstDash val="solid"/>
            <a:round/>
          </a:ln>
        </p:spPr>
        <p:txBody>
          <a:bodyPr vert="horz" wrap="square" lIns="0" tIns="0" rIns="0" bIns="0" rtlCol="0" anchor="ctr" anchorCtr="0"/>
          <a:lstStyle/>
          <a:p>
            <a:pPr marL="285750" indent="-285750" algn="l">
              <a:lnSpc>
                <a:spcPct val="125000"/>
              </a:lnSpc>
              <a:buFont typeface="Arial" panose="020B0604020202020204" pitchFamily="34" charset="0"/>
              <a:buChar char="•"/>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All service configurations are dynamically loaded from system environment variables and a .env file using </a:t>
            </a:r>
            <a:r>
              <a:rPr lang="en-US" sz="16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pydantic-settings</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25000"/>
              </a:lnSpc>
              <a:buFont typeface="Arial" panose="020B0604020202020204" pitchFamily="34" charset="0"/>
              <a:buChar char="•"/>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Sensitive credentials (e.g.,  API_KEY,  DB_URL ) are isolated in </a:t>
            </a:r>
            <a:r>
              <a:rPr lang="en-US" sz="16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.env</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file, which is explicitly excluded from version control to prevent accidental exposure.</a:t>
            </a:r>
            <a:endParaRPr lang="en-US"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Bulk Data Ingestion with Consistent Validation</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Ingestion Workflow - CSV Import Process</a:t>
            </a:r>
            <a:endParaRPr lang="en-US" sz="1100"/>
          </a:p>
        </p:txBody>
      </p:sp>
      <p:sp>
        <p:nvSpPr>
          <p:cNvPr id="4" name="AutoShape 4"/>
          <p:cNvSpPr/>
          <p:nvPr>
            <p:custDataLst>
              <p:tags r:id="rId1"/>
            </p:custDataLst>
          </p:nvPr>
        </p:nvSpPr>
        <p:spPr>
          <a:xfrm>
            <a:off x="762000" y="1905000"/>
            <a:ext cx="3302000" cy="3429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4A6B8A">
                <a:alpha val="12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1016000" y="2159000"/>
            <a:ext cx="914400" cy="9144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19200" y="2362200"/>
            <a:ext cx="508000" cy="508000"/>
          </a:xfrm>
          <a:prstGeom prst="rect">
            <a:avLst/>
          </a:prstGeom>
        </p:spPr>
      </p:pic>
      <p:sp>
        <p:nvSpPr>
          <p:cNvPr id="7" name="AutoShape 7"/>
          <p:cNvSpPr/>
          <p:nvPr>
            <p:custDataLst>
              <p:tags r:id="rId6"/>
            </p:custDataLst>
          </p:nvPr>
        </p:nvSpPr>
        <p:spPr>
          <a:xfrm>
            <a:off x="2159000" y="2222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4A6B8A">
                    <a:alpha val="2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a:p>
            <a:pPr indent="0" algn="l">
              <a:lnSpc>
                <a:spcPct val="125000"/>
              </a:lnSpc>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 Source</a:t>
            </a:r>
            <a:endPar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custDataLst>
              <p:tags r:id="rId7"/>
            </p:custDataLst>
          </p:nvPr>
        </p:nvCxnSpPr>
        <p:spPr>
          <a:xfrm rot="-15626">
            <a:off x="1016014" y="3295650"/>
            <a:ext cx="27940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sp>
        <p:nvSpPr>
          <p:cNvPr id="9" name="AutoShape 9"/>
          <p:cNvSpPr/>
          <p:nvPr>
            <p:custDataLst>
              <p:tags r:id="rId8"/>
            </p:custDataLst>
          </p:nvPr>
        </p:nvSpPr>
        <p:spPr>
          <a:xfrm>
            <a:off x="1016000" y="3556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 properly formatted CSV file containing the book metadata is provided as the initial input for the bulk process.</a:t>
            </a:r>
            <a:endParaRPr lang="en-US" sz="1600"/>
          </a:p>
        </p:txBody>
      </p:sp>
      <p:sp>
        <p:nvSpPr>
          <p:cNvPr id="10" name="AutoShape 10"/>
          <p:cNvSpPr/>
          <p:nvPr>
            <p:custDataLst>
              <p:tags r:id="rId9"/>
            </p:custDataLst>
          </p:nvPr>
        </p:nvSpPr>
        <p:spPr>
          <a:xfrm>
            <a:off x="4445000" y="1905000"/>
            <a:ext cx="3302000" cy="3429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4A6B8A">
                <a:alpha val="12000"/>
              </a:srgbClr>
            </a:outerShdw>
          </a:effectLst>
        </p:spPr>
        <p:txBody>
          <a:bodyPr vert="horz" wrap="square" lIns="63500" tIns="63500" rIns="63500" bIns="63500" rtlCol="0" anchor="ctr"/>
          <a:lstStyle/>
          <a:p>
            <a:pPr algn="ctr">
              <a:defRPr/>
            </a:pPr>
          </a:p>
        </p:txBody>
      </p:sp>
      <p:sp>
        <p:nvSpPr>
          <p:cNvPr id="11" name="AutoShape 11"/>
          <p:cNvSpPr/>
          <p:nvPr>
            <p:custDataLst>
              <p:tags r:id="rId10"/>
            </p:custDataLst>
          </p:nvPr>
        </p:nvSpPr>
        <p:spPr>
          <a:xfrm>
            <a:off x="4699000" y="2159000"/>
            <a:ext cx="914400" cy="9144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1"/>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02200" y="2362200"/>
            <a:ext cx="508000" cy="508000"/>
          </a:xfrm>
          <a:prstGeom prst="rect">
            <a:avLst/>
          </a:prstGeom>
        </p:spPr>
      </p:pic>
      <p:sp>
        <p:nvSpPr>
          <p:cNvPr id="13" name="AutoShape 13"/>
          <p:cNvSpPr/>
          <p:nvPr>
            <p:custDataLst>
              <p:tags r:id="rId13"/>
            </p:custDataLst>
          </p:nvPr>
        </p:nvSpPr>
        <p:spPr>
          <a:xfrm>
            <a:off x="5842000" y="2222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4A6B8A">
                    <a:alpha val="2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a:p>
            <a:pPr indent="0" algn="l">
              <a:lnSpc>
                <a:spcPct val="125000"/>
              </a:lnSpc>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Script Execution</a:t>
            </a:r>
            <a:endPar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custDataLst>
              <p:tags r:id="rId14"/>
            </p:custDataLst>
          </p:nvPr>
        </p:nvCxnSpPr>
        <p:spPr>
          <a:xfrm rot="-15626">
            <a:off x="4699014" y="3295650"/>
            <a:ext cx="27940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sp>
        <p:nvSpPr>
          <p:cNvPr id="15" name="AutoShape 15"/>
          <p:cNvSpPr/>
          <p:nvPr>
            <p:custDataLst>
              <p:tags r:id="rId15"/>
            </p:custDataLst>
          </p:nvPr>
        </p:nvSpPr>
        <p:spPr>
          <a:xfrm>
            <a:off x="4699000" y="3556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The dedicated Python script </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scripts/import_csv.py </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parses the input file and initiates the data processing pipeline.</a:t>
            </a:r>
            <a:endParaRPr lang="en-US" sz="1600"/>
          </a:p>
        </p:txBody>
      </p:sp>
      <p:sp>
        <p:nvSpPr>
          <p:cNvPr id="16" name="AutoShape 16"/>
          <p:cNvSpPr/>
          <p:nvPr>
            <p:custDataLst>
              <p:tags r:id="rId16"/>
            </p:custDataLst>
          </p:nvPr>
        </p:nvSpPr>
        <p:spPr>
          <a:xfrm>
            <a:off x="8128000" y="1905000"/>
            <a:ext cx="3302000" cy="3429000"/>
          </a:xfrm>
          <a:prstGeom prst="roundRect">
            <a:avLst>
              <a:gd name="adj" fmla="val 4615"/>
            </a:avLst>
          </a:prstGeom>
          <a:solidFill>
            <a:srgbClr val="FFFFFF">
              <a:alpha val="100000"/>
            </a:srgbClr>
          </a:solidFill>
          <a:ln w="25400" cap="flat" cmpd="sng">
            <a:noFill/>
            <a:prstDash val="solid"/>
            <a:round/>
          </a:ln>
          <a:effectLst>
            <a:outerShdw blurRad="203200" dist="76200" dir="5400000" algn="tl" rotWithShape="0">
              <a:srgbClr val="4A6B8A">
                <a:alpha val="12000"/>
              </a:srgbClr>
            </a:outerShdw>
          </a:effectLst>
        </p:spPr>
        <p:txBody>
          <a:bodyPr vert="horz" wrap="square" lIns="63500" tIns="63500" rIns="63500" bIns="63500" rtlCol="0" anchor="ctr"/>
          <a:lstStyle/>
          <a:p>
            <a:pPr algn="ctr">
              <a:defRPr/>
            </a:pPr>
          </a:p>
        </p:txBody>
      </p:sp>
      <p:sp>
        <p:nvSpPr>
          <p:cNvPr id="17" name="AutoShape 17"/>
          <p:cNvSpPr/>
          <p:nvPr>
            <p:custDataLst>
              <p:tags r:id="rId17"/>
            </p:custDataLst>
          </p:nvPr>
        </p:nvSpPr>
        <p:spPr>
          <a:xfrm>
            <a:off x="8382000" y="2159000"/>
            <a:ext cx="914400" cy="914400"/>
          </a:xfrm>
          <a:prstGeom prst="ellipse">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585200" y="2362200"/>
            <a:ext cx="508000" cy="508000"/>
          </a:xfrm>
          <a:prstGeom prst="rect">
            <a:avLst/>
          </a:prstGeom>
        </p:spPr>
      </p:pic>
      <p:sp>
        <p:nvSpPr>
          <p:cNvPr id="19" name="AutoShape 19"/>
          <p:cNvSpPr/>
          <p:nvPr>
            <p:custDataLst>
              <p:tags r:id="rId21"/>
            </p:custDataLst>
          </p:nvPr>
        </p:nvSpPr>
        <p:spPr>
          <a:xfrm>
            <a:off x="9525000" y="2222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4A6B8A">
                    <a:alpha val="2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a:p>
            <a:pPr indent="0" algn="l">
              <a:lnSpc>
                <a:spcPct val="125000"/>
              </a:lnSpc>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Validation Reuse</a:t>
            </a:r>
            <a:endPar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custDataLst>
              <p:tags r:id="rId22"/>
            </p:custDataLst>
          </p:nvPr>
        </p:nvCxnSpPr>
        <p:spPr>
          <a:xfrm rot="-15626">
            <a:off x="8382014" y="3295650"/>
            <a:ext cx="27940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sp>
        <p:nvSpPr>
          <p:cNvPr id="21" name="AutoShape 21"/>
          <p:cNvSpPr/>
          <p:nvPr>
            <p:custDataLst>
              <p:tags r:id="rId23"/>
            </p:custDataLst>
          </p:nvPr>
        </p:nvSpPr>
        <p:spPr>
          <a:xfrm>
            <a:off x="8204200" y="3556000"/>
            <a:ext cx="29718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Leverages the existing </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BookCreate </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schema and CRUD functions from the API layer to enforce identical validation rules.</a:t>
            </a:r>
            <a:endParaRPr lang="en-US" sz="1600"/>
          </a:p>
        </p:txBody>
      </p:sp>
      <p:sp>
        <p:nvSpPr>
          <p:cNvPr id="22" name="AutoShape 22"/>
          <p:cNvSpPr/>
          <p:nvPr/>
        </p:nvSpPr>
        <p:spPr>
          <a:xfrm>
            <a:off x="762000" y="5715000"/>
            <a:ext cx="10668000" cy="635000"/>
          </a:xfrm>
          <a:prstGeom prst="roundRect">
            <a:avLst>
              <a:gd name="adj" fmla="val 16000"/>
            </a:avLst>
          </a:prstGeom>
          <a:solidFill>
            <a:srgbClr val="4A6B8A">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715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Key Outcome: This shared core logic ensures strict data integrity is maintained for both bulk imports and individual API requests.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Seamless Transition from Development to Production</a:t>
            </a:r>
            <a:endParaRPr lang="en-US" sz="1100"/>
          </a:p>
        </p:txBody>
      </p:sp>
      <p:sp>
        <p:nvSpPr>
          <p:cNvPr id="3" name="AutoShape 3"/>
          <p:cNvSpPr/>
          <p:nvPr/>
        </p:nvSpPr>
        <p:spPr>
          <a:xfrm>
            <a:off x="762000" y="1143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Deployment &amp; Operations</a:t>
            </a:r>
            <a:endParaRPr lang="en-US" sz="1100"/>
          </a:p>
        </p:txBody>
      </p:sp>
      <p:sp>
        <p:nvSpPr>
          <p:cNvPr id="4" name="AutoShape 4"/>
          <p:cNvSpPr/>
          <p:nvPr>
            <p:custDataLst>
              <p:tags r:id="rId1"/>
            </p:custDataLst>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2540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2159000"/>
            <a:ext cx="609600" cy="609600"/>
          </a:xfrm>
          <a:prstGeom prst="rect">
            <a:avLst/>
          </a:prstGeom>
        </p:spPr>
      </p:pic>
      <p:sp>
        <p:nvSpPr>
          <p:cNvPr id="6" name="AutoShape 6"/>
          <p:cNvSpPr/>
          <p:nvPr>
            <p:custDataLst>
              <p:tags r:id="rId5"/>
            </p:custDataLst>
          </p:nvPr>
        </p:nvSpPr>
        <p:spPr>
          <a:xfrm>
            <a:off x="2032000" y="2222500"/>
            <a:ext cx="342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Local Development</a:t>
            </a:r>
            <a:endParaRPr lang="en-US" sz="1100"/>
          </a:p>
        </p:txBody>
      </p:sp>
      <p:sp>
        <p:nvSpPr>
          <p:cNvPr id="7" name="AutoShape 7"/>
          <p:cNvSpPr/>
          <p:nvPr>
            <p:custDataLst>
              <p:tags r:id="rId6"/>
            </p:custDataLst>
          </p:nvPr>
        </p:nvSpPr>
        <p:spPr>
          <a:xfrm>
            <a:off x="1143000" y="3048000"/>
            <a:ext cx="762000" cy="50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7"/>
            </p:custDataLst>
          </p:nvPr>
        </p:nvSpPr>
        <p:spPr>
          <a:xfrm>
            <a:off x="1143000" y="3429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Hot-Reloading for Productivity</a:t>
            </a:r>
            <a:endParaRPr lang="en-US" sz="1100"/>
          </a:p>
        </p:txBody>
      </p:sp>
      <p:sp>
        <p:nvSpPr>
          <p:cNvPr id="9" name="AutoShape 9"/>
          <p:cNvSpPr/>
          <p:nvPr>
            <p:custDataLst>
              <p:tags r:id="rId8"/>
            </p:custDataLst>
          </p:nvPr>
        </p:nvSpPr>
        <p:spPr>
          <a:xfrm>
            <a:off x="863600" y="4064000"/>
            <a:ext cx="4724400" cy="151384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The service is started with </a:t>
            </a:r>
            <a:endPar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457200" algn="l">
              <a:lnSpc>
                <a:spcPct val="125000"/>
              </a:lnSpc>
              <a:defRPr/>
            </a:pP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uvicorn app.main:app --reload</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which enables hot-reloading for a fast development cycle. This allows developers to see changes instantly without restarting the server manually.</a:t>
            </a:r>
            <a:endParaRPr lang="en-US" sz="1600"/>
          </a:p>
        </p:txBody>
      </p:sp>
      <p:sp>
        <p:nvSpPr>
          <p:cNvPr id="10" name="AutoShape 10"/>
          <p:cNvSpPr/>
          <p:nvPr>
            <p:custDataLst>
              <p:tags r:id="rId9"/>
            </p:custDataLst>
          </p:nvPr>
        </p:nvSpPr>
        <p:spPr>
          <a:xfrm>
            <a:off x="6223000" y="1778000"/>
            <a:ext cx="5207000" cy="4318000"/>
          </a:xfrm>
          <a:prstGeom prst="roundRect">
            <a:avLst>
              <a:gd name="adj" fmla="val 3529"/>
            </a:avLst>
          </a:prstGeom>
          <a:solidFill>
            <a:srgbClr val="FFFFFF">
              <a:alpha val="100000"/>
            </a:srgbClr>
          </a:solidFill>
          <a:ln w="25400" cap="flat" cmpd="sng">
            <a:noFill/>
            <a:prstDash val="solid"/>
            <a:round/>
          </a:ln>
          <a:effectLst>
            <a:outerShdw blurRad="2540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159000"/>
            <a:ext cx="609600" cy="609600"/>
          </a:xfrm>
          <a:prstGeom prst="rect">
            <a:avLst/>
          </a:prstGeom>
        </p:spPr>
      </p:pic>
      <p:sp>
        <p:nvSpPr>
          <p:cNvPr id="12" name="AutoShape 12"/>
          <p:cNvSpPr/>
          <p:nvPr>
            <p:custDataLst>
              <p:tags r:id="rId13"/>
            </p:custDataLst>
          </p:nvPr>
        </p:nvSpPr>
        <p:spPr>
          <a:xfrm>
            <a:off x="7493000" y="2222500"/>
            <a:ext cx="342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Production Considerations</a:t>
            </a:r>
            <a:endParaRPr lang="en-US" sz="1100"/>
          </a:p>
        </p:txBody>
      </p:sp>
      <p:sp>
        <p:nvSpPr>
          <p:cNvPr id="13" name="AutoShape 13"/>
          <p:cNvSpPr/>
          <p:nvPr>
            <p:custDataLst>
              <p:tags r:id="rId14"/>
            </p:custDataLst>
          </p:nvPr>
        </p:nvSpPr>
        <p:spPr>
          <a:xfrm>
            <a:off x="6604000" y="3048000"/>
            <a:ext cx="762000" cy="50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5"/>
            </p:custDataLst>
          </p:nvPr>
        </p:nvSpPr>
        <p:spPr>
          <a:xfrm>
            <a:off x="6604000" y="3429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Ready for Production</a:t>
            </a:r>
            <a:endParaRPr lang="en-US" sz="1100"/>
          </a:p>
        </p:txBody>
      </p:sp>
      <p:sp>
        <p:nvSpPr>
          <p:cNvPr id="15" name="AutoShape 15"/>
          <p:cNvSpPr/>
          <p:nvPr>
            <p:custDataLst>
              <p:tags r:id="rId16"/>
            </p:custDataLst>
          </p:nvPr>
        </p:nvSpPr>
        <p:spPr>
          <a:xfrm>
            <a:off x="6604000" y="4064000"/>
            <a:ext cx="4445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For production, we recommend using a process manager like </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Gunicorn</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a persistent database like</a:t>
            </a:r>
            <a:r>
              <a:rPr lang="en-US" sz="16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PostgreSQL</a:t>
            </a: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and implementing structured logging and health checks for full observability and system reliability.</a:t>
            </a:r>
            <a:endParaRPr 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Comprehensive Testing Ensures Code Quality</a:t>
            </a:r>
            <a:endParaRPr lang="en-US" sz="1100"/>
          </a:p>
        </p:txBody>
      </p:sp>
      <p:sp>
        <p:nvSpPr>
          <p:cNvPr id="3" name="AutoShape 3"/>
          <p:cNvSpPr/>
          <p:nvPr/>
        </p:nvSpPr>
        <p:spPr>
          <a:xfrm>
            <a:off x="762000" y="1143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Testing Strategy &amp; Implementation Framework</a:t>
            </a:r>
            <a:endParaRPr lang="en-US" sz="1100"/>
          </a:p>
        </p:txBody>
      </p:sp>
      <p:sp>
        <p:nvSpPr>
          <p:cNvPr id="4" name="AutoShape 4"/>
          <p:cNvSpPr/>
          <p:nvPr/>
        </p:nvSpPr>
        <p:spPr>
          <a:xfrm>
            <a:off x="762000" y="1651000"/>
            <a:ext cx="4318000" cy="4699000"/>
          </a:xfrm>
          <a:prstGeom prst="roundRect">
            <a:avLst>
              <a:gd name="adj" fmla="val 4705"/>
            </a:avLst>
          </a:prstGeom>
          <a:solidFill>
            <a:srgbClr val="FFFFFF">
              <a:alpha val="100000"/>
            </a:srgbClr>
          </a:solidFill>
          <a:ln w="25400" cap="flat" cmpd="sng">
            <a:noFill/>
            <a:prstDash val="solid"/>
            <a:round/>
          </a:ln>
          <a:effectLst>
            <a:outerShdw blurRad="254000" dist="63500" dir="5400000" algn="tl" rotWithShape="0">
              <a:srgbClr val="4A6B8A">
                <a:alpha val="12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3810000" cy="889000"/>
          </a:xfrm>
          <a:prstGeom prst="roundRect">
            <a:avLst>
              <a:gd name="adj" fmla="val 17142"/>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pytest Ecosystem</a:t>
            </a:r>
            <a:endParaRPr lang="en-US" sz="1100"/>
          </a:p>
        </p:txBody>
      </p:sp>
      <p:sp>
        <p:nvSpPr>
          <p:cNvPr id="7" name="AutoShape 7"/>
          <p:cNvSpPr/>
          <p:nvPr/>
        </p:nvSpPr>
        <p:spPr>
          <a:xfrm>
            <a:off x="1016000" y="2476500"/>
            <a:ext cx="381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Unified test runner &amp; assertion library</a:t>
            </a:r>
            <a:endParaRPr lang="en-US" sz="1100"/>
          </a:p>
        </p:txBody>
      </p:sp>
      <p:sp>
        <p:nvSpPr>
          <p:cNvPr id="8" name="AutoShape 8"/>
          <p:cNvSpPr/>
          <p:nvPr/>
        </p:nvSpPr>
        <p:spPr>
          <a:xfrm>
            <a:off x="1016000" y="3048000"/>
            <a:ext cx="3810000" cy="1079500"/>
          </a:xfrm>
          <a:prstGeom prst="roundRect">
            <a:avLst>
              <a:gd name="adj" fmla="val 11764"/>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3238500"/>
            <a:ext cx="457200" cy="457200"/>
          </a:xfrm>
          <a:prstGeom prst="rect">
            <a:avLst/>
          </a:prstGeom>
        </p:spPr>
      </p:pic>
      <p:sp>
        <p:nvSpPr>
          <p:cNvPr id="10" name="AutoShape 10"/>
          <p:cNvSpPr/>
          <p:nvPr/>
        </p:nvSpPr>
        <p:spPr>
          <a:xfrm>
            <a:off x="1905000" y="31750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Starlette TestClient</a:t>
            </a:r>
            <a:endParaRPr lang="en-US" sz="1100"/>
          </a:p>
        </p:txBody>
      </p:sp>
      <p:sp>
        <p:nvSpPr>
          <p:cNvPr id="11" name="AutoShape 11"/>
          <p:cNvSpPr/>
          <p:nvPr/>
        </p:nvSpPr>
        <p:spPr>
          <a:xfrm>
            <a:off x="1905000" y="3556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Simulates real HTTP requests to the FastAPI application without a live server.</a:t>
            </a:r>
            <a:endParaRPr lang="en-US" sz="1100"/>
          </a:p>
        </p:txBody>
      </p:sp>
      <p:sp>
        <p:nvSpPr>
          <p:cNvPr id="12" name="AutoShape 12"/>
          <p:cNvSpPr/>
          <p:nvPr/>
        </p:nvSpPr>
        <p:spPr>
          <a:xfrm>
            <a:off x="1016000" y="4254500"/>
            <a:ext cx="3810000" cy="1079500"/>
          </a:xfrm>
          <a:prstGeom prst="roundRect">
            <a:avLst>
              <a:gd name="adj" fmla="val 11764"/>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445000"/>
            <a:ext cx="457200" cy="457200"/>
          </a:xfrm>
          <a:prstGeom prst="rect">
            <a:avLst/>
          </a:prstGeom>
        </p:spPr>
      </p:pic>
      <p:sp>
        <p:nvSpPr>
          <p:cNvPr id="14" name="AutoShape 14"/>
          <p:cNvSpPr/>
          <p:nvPr/>
        </p:nvSpPr>
        <p:spPr>
          <a:xfrm>
            <a:off x="1905000" y="43815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In-memory SQLite DB</a:t>
            </a:r>
            <a:endParaRPr lang="en-US" sz="1100"/>
          </a:p>
        </p:txBody>
      </p:sp>
      <p:sp>
        <p:nvSpPr>
          <p:cNvPr id="15" name="AutoShape 15"/>
          <p:cNvSpPr/>
          <p:nvPr/>
        </p:nvSpPr>
        <p:spPr>
          <a:xfrm>
            <a:off x="1905000" y="4762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Creates a fresh, temporary database for each test session to prevent data leakage.</a:t>
            </a:r>
            <a:endParaRPr lang="en-US" sz="1100"/>
          </a:p>
        </p:txBody>
      </p:sp>
      <p:sp>
        <p:nvSpPr>
          <p:cNvPr id="16" name="AutoShape 16"/>
          <p:cNvSpPr/>
          <p:nvPr/>
        </p:nvSpPr>
        <p:spPr>
          <a:xfrm>
            <a:off x="1016000" y="5461000"/>
            <a:ext cx="3810000" cy="762000"/>
          </a:xfrm>
          <a:prstGeom prst="roundRect">
            <a:avLst>
              <a:gd name="adj" fmla="val 16666"/>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5613400"/>
            <a:ext cx="457200" cy="457200"/>
          </a:xfrm>
          <a:prstGeom prst="rect">
            <a:avLst/>
          </a:prstGeom>
        </p:spPr>
      </p:pic>
      <p:sp>
        <p:nvSpPr>
          <p:cNvPr id="18" name="AutoShape 18"/>
          <p:cNvSpPr/>
          <p:nvPr/>
        </p:nvSpPr>
        <p:spPr>
          <a:xfrm>
            <a:off x="1905000" y="558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Dependency Overrides:</a:t>
            </a: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Isolate external service calls.</a:t>
            </a:r>
            <a:endParaRPr lang="en-US" sz="1100"/>
          </a:p>
        </p:txBody>
      </p:sp>
      <p:sp>
        <p:nvSpPr>
          <p:cNvPr id="19" name="AutoShape 19"/>
          <p:cNvSpPr/>
          <p:nvPr/>
        </p:nvSpPr>
        <p:spPr>
          <a:xfrm>
            <a:off x="5334000" y="1651000"/>
            <a:ext cx="6096000" cy="2286000"/>
          </a:xfrm>
          <a:prstGeom prst="roundRect">
            <a:avLst>
              <a:gd name="adj" fmla="val 8888"/>
            </a:avLst>
          </a:prstGeom>
          <a:solidFill>
            <a:srgbClr val="FFFFFF">
              <a:alpha val="100000"/>
            </a:srgbClr>
          </a:solidFill>
          <a:ln w="25400" cap="flat" cmpd="sng">
            <a:noFill/>
            <a:prstDash val="solid"/>
            <a:round/>
          </a:ln>
          <a:effectLst>
            <a:outerShdw blurRad="254000" dist="63500" dir="5400000" algn="tl" rotWithShape="0">
              <a:srgbClr val="4A6B8A">
                <a:alpha val="12000"/>
              </a:srgbClr>
            </a:outerShdw>
          </a:effectLst>
        </p:spPr>
        <p:txBody>
          <a:bodyPr vert="horz" wrap="square" lIns="63500" tIns="63500" rIns="63500" bIns="63500" rtlCol="0" anchor="ctr"/>
          <a:lstStyle/>
          <a:p>
            <a:pPr algn="ctr">
              <a:defRPr/>
            </a:pPr>
          </a:p>
        </p:txBody>
      </p:sp>
      <p:sp>
        <p:nvSpPr>
          <p:cNvPr id="20" name="AutoShape 20"/>
          <p:cNvSpPr/>
          <p:nvPr/>
        </p:nvSpPr>
        <p:spPr>
          <a:xfrm>
            <a:off x="5588000" y="1905000"/>
            <a:ext cx="50800" cy="304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5778500" y="18796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Test Coverage Scope</a:t>
            </a:r>
            <a:endParaRPr lang="en-US" sz="1100"/>
          </a:p>
        </p:txBody>
      </p:sp>
      <p:sp>
        <p:nvSpPr>
          <p:cNvPr id="22" name="AutoShape 22"/>
          <p:cNvSpPr/>
          <p:nvPr/>
        </p:nvSpPr>
        <p:spPr>
          <a:xfrm>
            <a:off x="5588000" y="2413000"/>
            <a:ext cx="2730500" cy="1143000"/>
          </a:xfrm>
          <a:prstGeom prst="roundRect">
            <a:avLst>
              <a:gd name="adj" fmla="val 888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5715000" y="25400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📄test_api.py(Core Logic)</a:t>
            </a:r>
            <a:endParaRPr lang="en-US" sz="1100"/>
          </a:p>
        </p:txBody>
      </p:sp>
      <p:sp>
        <p:nvSpPr>
          <p:cNvPr id="24" name="AutoShape 24"/>
          <p:cNvSpPr/>
          <p:nvPr/>
        </p:nvSpPr>
        <p:spPr>
          <a:xfrm>
            <a:off x="5715000" y="2921000"/>
            <a:ext cx="2476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Validates health checks, full CRUD cycle, data analytics endpoints, request filtering, and pagination logic.</a:t>
            </a:r>
            <a:endParaRPr lang="en-US" sz="1100"/>
          </a:p>
        </p:txBody>
      </p:sp>
      <p:sp>
        <p:nvSpPr>
          <p:cNvPr id="25" name="AutoShape 25"/>
          <p:cNvSpPr/>
          <p:nvPr/>
        </p:nvSpPr>
        <p:spPr>
          <a:xfrm>
            <a:off x="8509000" y="2413000"/>
            <a:ext cx="2730500" cy="1143000"/>
          </a:xfrm>
          <a:prstGeom prst="roundRect">
            <a:avLst>
              <a:gd name="adj" fmla="val 888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636000" y="25400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🔒test_auth.py(Security)</a:t>
            </a:r>
            <a:endParaRPr lang="en-US" sz="1100"/>
          </a:p>
        </p:txBody>
      </p:sp>
      <p:sp>
        <p:nvSpPr>
          <p:cNvPr id="27" name="AutoShape 27"/>
          <p:cNvSpPr/>
          <p:nvPr/>
        </p:nvSpPr>
        <p:spPr>
          <a:xfrm>
            <a:off x="8636000" y="2921000"/>
            <a:ext cx="2476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Verifies JWT flow. Asserts HTTP 401 for unauthenticated requests and HTTP 201 for valid key authorization.</a:t>
            </a:r>
            <a:endParaRPr lang="en-US" sz="1100"/>
          </a:p>
        </p:txBody>
      </p:sp>
      <p:sp>
        <p:nvSpPr>
          <p:cNvPr id="28" name="AutoShape 28"/>
          <p:cNvSpPr/>
          <p:nvPr/>
        </p:nvSpPr>
        <p:spPr>
          <a:xfrm>
            <a:off x="5334000" y="4191000"/>
            <a:ext cx="6096000" cy="2159000"/>
          </a:xfrm>
          <a:prstGeom prst="roundRect">
            <a:avLst>
              <a:gd name="adj" fmla="val 9411"/>
            </a:avLst>
          </a:prstGeom>
          <a:solidFill>
            <a:srgbClr val="FFFFFF">
              <a:alpha val="100000"/>
            </a:srgbClr>
          </a:solidFill>
          <a:ln w="25400" cap="flat" cmpd="sng">
            <a:noFill/>
            <a:prstDash val="solid"/>
            <a:round/>
          </a:ln>
          <a:effectLst>
            <a:outerShdw blurRad="254000" dist="63500" dir="5400000" algn="tl" rotWithShape="0">
              <a:srgbClr val="4A6B8A">
                <a:alpha val="12000"/>
              </a:srgbClr>
            </a:outerShdw>
          </a:effectLst>
        </p:spPr>
        <p:txBody>
          <a:bodyPr vert="horz" wrap="square" lIns="63500" tIns="63500" rIns="63500" bIns="63500" rtlCol="0" anchor="ctr"/>
          <a:lstStyle/>
          <a:p>
            <a:pPr algn="ctr">
              <a:defRPr/>
            </a:pPr>
          </a:p>
        </p:txBody>
      </p:sp>
      <p:sp>
        <p:nvSpPr>
          <p:cNvPr id="29" name="AutoShape 29"/>
          <p:cNvSpPr/>
          <p:nvPr/>
        </p:nvSpPr>
        <p:spPr>
          <a:xfrm>
            <a:off x="5588000" y="4445000"/>
            <a:ext cx="50800" cy="3048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5778500" y="44196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Key Challenges &amp; Resolutions</a:t>
            </a:r>
            <a:endParaRPr lang="en-US" sz="1100"/>
          </a:p>
        </p:txBody>
      </p:sp>
      <p:sp>
        <p:nvSpPr>
          <p:cNvPr id="31" name="AutoShape 31"/>
          <p:cNvSpPr/>
          <p:nvPr/>
        </p:nvSpPr>
        <p:spPr>
          <a:xfrm>
            <a:off x="5588000" y="4953000"/>
            <a:ext cx="2730500" cy="1143000"/>
          </a:xfrm>
          <a:prstGeom prst="roundRect">
            <a:avLst>
              <a:gd name="adj" fmla="val 888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5715000" y="50800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⚠️Pydantic Cache Stale</a:t>
            </a:r>
            <a:endParaRPr lang="en-US" sz="1100"/>
          </a:p>
        </p:txBody>
      </p:sp>
      <p:sp>
        <p:nvSpPr>
          <p:cNvPr id="33" name="AutoShape 33"/>
          <p:cNvSpPr/>
          <p:nvPr/>
        </p:nvSpPr>
        <p:spPr>
          <a:xfrm>
            <a:off x="5715000" y="5461000"/>
            <a:ext cx="24765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Solution: Explicitly clear the settings cache before each test to ensure fresh environment variables are loaded.</a:t>
            </a:r>
            <a:endParaRPr lang="en-US" sz="1100"/>
          </a:p>
        </p:txBody>
      </p:sp>
      <p:sp>
        <p:nvSpPr>
          <p:cNvPr id="34" name="AutoShape 34"/>
          <p:cNvSpPr/>
          <p:nvPr/>
        </p:nvSpPr>
        <p:spPr>
          <a:xfrm>
            <a:off x="8509000" y="4953000"/>
            <a:ext cx="2730500" cy="1143000"/>
          </a:xfrm>
          <a:prstGeom prst="roundRect">
            <a:avLst>
              <a:gd name="adj" fmla="val 888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8636000" y="50800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🛡️Test Isolation</a:t>
            </a:r>
            <a:endParaRPr lang="en-US" sz="1100"/>
          </a:p>
        </p:txBody>
      </p:sp>
      <p:sp>
        <p:nvSpPr>
          <p:cNvPr id="36" name="AutoShape 36"/>
          <p:cNvSpPr/>
          <p:nvPr/>
        </p:nvSpPr>
        <p:spPr>
          <a:xfrm>
            <a:off x="8636000" y="5461000"/>
            <a:ext cx="24765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Solution: Combine in-memory DB with FastAPI dependency overrides to eliminate cross-test interference.</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Key Takeaways from the Development Process</a:t>
            </a:r>
            <a:endParaRPr lang="en-US" sz="1100"/>
          </a:p>
        </p:txBody>
      </p:sp>
      <p:sp>
        <p:nvSpPr>
          <p:cNvPr id="3" name="AutoShape 3"/>
          <p:cNvSpPr/>
          <p:nvPr/>
        </p:nvSpPr>
        <p:spPr>
          <a:xfrm>
            <a:off x="762000" y="1206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Lessons Learned &amp; Best Practices</a:t>
            </a:r>
            <a:endParaRPr lang="en-US" sz="1100"/>
          </a:p>
        </p:txBody>
      </p:sp>
      <p:sp>
        <p:nvSpPr>
          <p:cNvPr id="4" name="AutoShape 4"/>
          <p:cNvSpPr/>
          <p:nvPr/>
        </p:nvSpPr>
        <p:spPr>
          <a:xfrm>
            <a:off x="762000" y="1905000"/>
            <a:ext cx="3302000" cy="4064000"/>
          </a:xfrm>
          <a:prstGeom prst="roundRect">
            <a:avLst>
              <a:gd name="adj" fmla="val 6153"/>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2159000"/>
            <a:ext cx="812800" cy="812800"/>
          </a:xfrm>
          <a:prstGeom prst="ellipse">
            <a:avLst/>
          </a:prstGeom>
          <a:solidFill>
            <a:srgbClr val="98DBC6">
              <a:alpha val="3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2362200"/>
            <a:ext cx="406400" cy="406400"/>
          </a:xfrm>
          <a:prstGeom prst="rect">
            <a:avLst/>
          </a:prstGeom>
        </p:spPr>
      </p:pic>
      <p:sp>
        <p:nvSpPr>
          <p:cNvPr id="7" name="AutoShape 7"/>
          <p:cNvSpPr/>
          <p:nvPr/>
        </p:nvSpPr>
        <p:spPr>
          <a:xfrm>
            <a:off x="2032000" y="23114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Centralize Business Logic</a:t>
            </a:r>
            <a:endParaRPr lang="en-US" sz="1100"/>
          </a:p>
        </p:txBody>
      </p:sp>
      <p:cxnSp>
        <p:nvCxnSpPr>
          <p:cNvPr id="8" name="Connector 8"/>
          <p:cNvCxnSpPr/>
          <p:nvPr/>
        </p:nvCxnSpPr>
        <p:spPr>
          <a:xfrm rot="-15626">
            <a:off x="1016014" y="3168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9" name="AutoShape 9"/>
          <p:cNvSpPr/>
          <p:nvPr/>
        </p:nvSpPr>
        <p:spPr>
          <a:xfrm>
            <a:off x="1016000" y="3429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By centralizing database operations in the</a:t>
            </a:r>
            <a:r>
              <a:rPr lang="en-US" sz="12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crud.py</a:t>
            </a: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module, we ensured consistency across the API, CSV scripts, and any future consumers, significantly reducing code duplication and maintenance overhead.</a:t>
            </a:r>
            <a:endParaRPr lang="en-US" sz="1100"/>
          </a:p>
        </p:txBody>
      </p:sp>
      <p:sp>
        <p:nvSpPr>
          <p:cNvPr id="10" name="AutoShape 10"/>
          <p:cNvSpPr/>
          <p:nvPr/>
        </p:nvSpPr>
        <p:spPr>
          <a:xfrm>
            <a:off x="4445000" y="1905000"/>
            <a:ext cx="3302000" cy="4064000"/>
          </a:xfrm>
          <a:prstGeom prst="roundRect">
            <a:avLst>
              <a:gd name="adj" fmla="val 6153"/>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4699000" y="2159000"/>
            <a:ext cx="812800" cy="812800"/>
          </a:xfrm>
          <a:prstGeom prst="ellipse">
            <a:avLst/>
          </a:prstGeom>
          <a:solidFill>
            <a:srgbClr val="98DBC6">
              <a:alpha val="3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02200" y="2362200"/>
            <a:ext cx="406400" cy="406400"/>
          </a:xfrm>
          <a:prstGeom prst="rect">
            <a:avLst/>
          </a:prstGeom>
        </p:spPr>
      </p:pic>
      <p:sp>
        <p:nvSpPr>
          <p:cNvPr id="13" name="AutoShape 13"/>
          <p:cNvSpPr/>
          <p:nvPr/>
        </p:nvSpPr>
        <p:spPr>
          <a:xfrm>
            <a:off x="5715000" y="23114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OpenAPI as Source of Truth</a:t>
            </a:r>
            <a:endParaRPr lang="en-US" sz="1100"/>
          </a:p>
        </p:txBody>
      </p:sp>
      <p:cxnSp>
        <p:nvCxnSpPr>
          <p:cNvPr id="14" name="Connector 14"/>
          <p:cNvCxnSpPr/>
          <p:nvPr/>
        </p:nvCxnSpPr>
        <p:spPr>
          <a:xfrm rot="-15626">
            <a:off x="4699014" y="3168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5" name="AutoShape 15"/>
          <p:cNvSpPr/>
          <p:nvPr/>
        </p:nvSpPr>
        <p:spPr>
          <a:xfrm>
            <a:off x="4699000" y="3429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Designing with FastAPI's built-in OpenAPI generation ensured our documentation was always accurate and up-to-date. It served as the true contract for the service, aligning development and client integration seamlessly.</a:t>
            </a:r>
            <a:endParaRPr lang="en-US" sz="1100"/>
          </a:p>
        </p:txBody>
      </p:sp>
      <p:sp>
        <p:nvSpPr>
          <p:cNvPr id="16" name="AutoShape 16"/>
          <p:cNvSpPr/>
          <p:nvPr/>
        </p:nvSpPr>
        <p:spPr>
          <a:xfrm>
            <a:off x="8128000" y="1905000"/>
            <a:ext cx="3302000" cy="4064000"/>
          </a:xfrm>
          <a:prstGeom prst="roundRect">
            <a:avLst>
              <a:gd name="adj" fmla="val 6153"/>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8382000" y="2159000"/>
            <a:ext cx="812800" cy="812800"/>
          </a:xfrm>
          <a:prstGeom prst="ellipse">
            <a:avLst/>
          </a:prstGeom>
          <a:solidFill>
            <a:srgbClr val="98DBC6">
              <a:alpha val="3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85200" y="2362200"/>
            <a:ext cx="406400" cy="406400"/>
          </a:xfrm>
          <a:prstGeom prst="rect">
            <a:avLst/>
          </a:prstGeom>
        </p:spPr>
      </p:pic>
      <p:sp>
        <p:nvSpPr>
          <p:cNvPr id="19" name="AutoShape 19"/>
          <p:cNvSpPr/>
          <p:nvPr/>
        </p:nvSpPr>
        <p:spPr>
          <a:xfrm>
            <a:off x="9398000" y="23114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Leverage Framework for Testing</a:t>
            </a:r>
            <a:endParaRPr lang="en-US" sz="1100"/>
          </a:p>
        </p:txBody>
      </p:sp>
      <p:cxnSp>
        <p:nvCxnSpPr>
          <p:cNvPr id="20" name="Connector 20"/>
          <p:cNvCxnSpPr/>
          <p:nvPr/>
        </p:nvCxnSpPr>
        <p:spPr>
          <a:xfrm rot="-15626">
            <a:off x="8382014" y="3168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21" name="AutoShape 21"/>
          <p:cNvSpPr/>
          <p:nvPr/>
        </p:nvSpPr>
        <p:spPr>
          <a:xfrm>
            <a:off x="8382000" y="3429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FastAPI's dependency override mechanism allowed us to create powerful, clean, and isolated testing setups. This provided an excellent cost-benefit balance, making our QA process more efficient and reliable.</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A Clear Roadmap for Future Enhancements</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Limitations &amp; Future Improvements</a:t>
            </a:r>
            <a:endParaRPr lang="en-US" sz="1100"/>
          </a:p>
        </p:txBody>
      </p:sp>
      <p:sp>
        <p:nvSpPr>
          <p:cNvPr id="4" name="AutoShape 4"/>
          <p:cNvSpPr/>
          <p:nvPr/>
        </p:nvSpPr>
        <p:spPr>
          <a:xfrm>
            <a:off x="762000" y="1778000"/>
            <a:ext cx="5207000" cy="4572000"/>
          </a:xfrm>
          <a:prstGeom prst="roundRect">
            <a:avLst>
              <a:gd name="adj" fmla="val 3333"/>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62000" y="1778000"/>
            <a:ext cx="5207000" cy="76200"/>
          </a:xfrm>
          <a:prstGeom prst="roundRect">
            <a:avLst>
              <a:gd name="adj" fmla="val 0"/>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159000"/>
            <a:ext cx="406400" cy="406400"/>
          </a:xfrm>
          <a:prstGeom prst="rect">
            <a:avLst/>
          </a:prstGeom>
        </p:spPr>
      </p:pic>
      <p:sp>
        <p:nvSpPr>
          <p:cNvPr id="7" name="AutoShape 7"/>
          <p:cNvSpPr/>
          <p:nvPr/>
        </p:nvSpPr>
        <p:spPr>
          <a:xfrm>
            <a:off x="1574800" y="21590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Current Constraints</a:t>
            </a:r>
            <a:endParaRPr lang="en-US" sz="1100"/>
          </a:p>
        </p:txBody>
      </p:sp>
      <p:sp>
        <p:nvSpPr>
          <p:cNvPr id="8" name="AutoShape 8"/>
          <p:cNvSpPr/>
          <p:nvPr/>
        </p:nvSpPr>
        <p:spPr>
          <a:xfrm>
            <a:off x="1016000" y="2794000"/>
            <a:ext cx="4699000" cy="558800"/>
          </a:xfrm>
          <a:prstGeom prst="roundRect">
            <a:avLst>
              <a:gd name="adj" fmla="val 18181"/>
            </a:avLst>
          </a:prstGeom>
          <a:solidFill>
            <a:srgbClr val="EBEE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3800" y="2946400"/>
            <a:ext cx="254000" cy="254000"/>
          </a:xfrm>
          <a:prstGeom prst="rect">
            <a:avLst/>
          </a:prstGeom>
        </p:spPr>
      </p:pic>
      <p:sp>
        <p:nvSpPr>
          <p:cNvPr id="10" name="AutoShape 10"/>
          <p:cNvSpPr/>
          <p:nvPr/>
        </p:nvSpPr>
        <p:spPr>
          <a:xfrm>
            <a:off x="1600200" y="29464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Single API key (No support for multi-tenancy)</a:t>
            </a:r>
            <a:endParaRPr lang="en-US" sz="1100"/>
          </a:p>
        </p:txBody>
      </p:sp>
      <p:sp>
        <p:nvSpPr>
          <p:cNvPr id="11" name="AutoShape 11"/>
          <p:cNvSpPr/>
          <p:nvPr/>
        </p:nvSpPr>
        <p:spPr>
          <a:xfrm>
            <a:off x="1016000" y="3479800"/>
            <a:ext cx="4699000" cy="558800"/>
          </a:xfrm>
          <a:prstGeom prst="roundRect">
            <a:avLst>
              <a:gd name="adj" fmla="val 18181"/>
            </a:avLst>
          </a:prstGeom>
          <a:solidFill>
            <a:srgbClr val="EBEE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3800" y="3632200"/>
            <a:ext cx="254000" cy="254000"/>
          </a:xfrm>
          <a:prstGeom prst="rect">
            <a:avLst/>
          </a:prstGeom>
        </p:spPr>
      </p:pic>
      <p:sp>
        <p:nvSpPr>
          <p:cNvPr id="13" name="AutoShape 13"/>
          <p:cNvSpPr/>
          <p:nvPr/>
        </p:nvSpPr>
        <p:spPr>
          <a:xfrm>
            <a:off x="1600200" y="36322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SQLite database concurrency limitations</a:t>
            </a:r>
            <a:endParaRPr lang="en-US" sz="1100"/>
          </a:p>
        </p:txBody>
      </p:sp>
      <p:sp>
        <p:nvSpPr>
          <p:cNvPr id="14" name="AutoShape 14"/>
          <p:cNvSpPr/>
          <p:nvPr/>
        </p:nvSpPr>
        <p:spPr>
          <a:xfrm>
            <a:off x="1016000" y="4165600"/>
            <a:ext cx="4699000" cy="558800"/>
          </a:xfrm>
          <a:prstGeom prst="roundRect">
            <a:avLst>
              <a:gd name="adj" fmla="val 18181"/>
            </a:avLst>
          </a:prstGeom>
          <a:solidFill>
            <a:srgbClr val="EBEE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3800" y="4318000"/>
            <a:ext cx="254000" cy="254000"/>
          </a:xfrm>
          <a:prstGeom prst="rect">
            <a:avLst/>
          </a:prstGeom>
        </p:spPr>
      </p:pic>
      <p:sp>
        <p:nvSpPr>
          <p:cNvPr id="16" name="AutoShape 16"/>
          <p:cNvSpPr/>
          <p:nvPr/>
        </p:nvSpPr>
        <p:spPr>
          <a:xfrm>
            <a:off x="1600200" y="4318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Live analytics computation (High latency)</a:t>
            </a:r>
            <a:endParaRPr lang="en-US" sz="1100"/>
          </a:p>
        </p:txBody>
      </p:sp>
      <p:sp>
        <p:nvSpPr>
          <p:cNvPr id="17" name="AutoShape 17"/>
          <p:cNvSpPr/>
          <p:nvPr/>
        </p:nvSpPr>
        <p:spPr>
          <a:xfrm>
            <a:off x="1016000" y="4851400"/>
            <a:ext cx="4699000" cy="558800"/>
          </a:xfrm>
          <a:prstGeom prst="roundRect">
            <a:avLst>
              <a:gd name="adj" fmla="val 18181"/>
            </a:avLst>
          </a:prstGeom>
          <a:solidFill>
            <a:srgbClr val="EBEE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3800" y="5003800"/>
            <a:ext cx="254000" cy="254000"/>
          </a:xfrm>
          <a:prstGeom prst="rect">
            <a:avLst/>
          </a:prstGeom>
        </p:spPr>
      </p:pic>
      <p:sp>
        <p:nvSpPr>
          <p:cNvPr id="19" name="AutoShape 19"/>
          <p:cNvSpPr/>
          <p:nvPr/>
        </p:nvSpPr>
        <p:spPr>
          <a:xfrm>
            <a:off x="1600200" y="50038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Offset-based pagination (Inefficient for large sets)</a:t>
            </a:r>
            <a:endParaRPr lang="en-US" sz="1100"/>
          </a:p>
        </p:txBody>
      </p:sp>
      <p:sp>
        <p:nvSpPr>
          <p:cNvPr id="20" name="AutoShape 20"/>
          <p:cNvSpPr/>
          <p:nvPr/>
        </p:nvSpPr>
        <p:spPr>
          <a:xfrm>
            <a:off x="1016000" y="5537200"/>
            <a:ext cx="4699000" cy="558800"/>
          </a:xfrm>
          <a:prstGeom prst="roundRect">
            <a:avLst>
              <a:gd name="adj" fmla="val 18181"/>
            </a:avLst>
          </a:prstGeom>
          <a:solidFill>
            <a:srgbClr val="EBEE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3800" y="5689600"/>
            <a:ext cx="254000" cy="254000"/>
          </a:xfrm>
          <a:prstGeom prst="rect">
            <a:avLst/>
          </a:prstGeom>
        </p:spPr>
      </p:pic>
      <p:sp>
        <p:nvSpPr>
          <p:cNvPr id="22" name="AutoShape 22"/>
          <p:cNvSpPr/>
          <p:nvPr/>
        </p:nvSpPr>
        <p:spPr>
          <a:xfrm>
            <a:off x="1600200" y="56896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Missing full-text search &amp; structured logging</a:t>
            </a:r>
            <a:endParaRPr lang="en-US" sz="1100"/>
          </a:p>
        </p:txBody>
      </p:sp>
      <p:sp>
        <p:nvSpPr>
          <p:cNvPr id="23" name="AutoShape 23"/>
          <p:cNvSpPr/>
          <p:nvPr/>
        </p:nvSpPr>
        <p:spPr>
          <a:xfrm>
            <a:off x="6223000" y="1778000"/>
            <a:ext cx="5207000" cy="4572000"/>
          </a:xfrm>
          <a:prstGeom prst="roundRect">
            <a:avLst>
              <a:gd name="adj" fmla="val 3333"/>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4" name="AutoShape 24"/>
          <p:cNvSpPr/>
          <p:nvPr/>
        </p:nvSpPr>
        <p:spPr>
          <a:xfrm>
            <a:off x="6223000" y="1778000"/>
            <a:ext cx="5207000" cy="76200"/>
          </a:xfrm>
          <a:prstGeom prst="roundRect">
            <a:avLst>
              <a:gd name="adj" fmla="val 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159000"/>
            <a:ext cx="406400" cy="406400"/>
          </a:xfrm>
          <a:prstGeom prst="rect">
            <a:avLst/>
          </a:prstGeom>
        </p:spPr>
      </p:pic>
      <p:sp>
        <p:nvSpPr>
          <p:cNvPr id="26" name="AutoShape 26"/>
          <p:cNvSpPr/>
          <p:nvPr/>
        </p:nvSpPr>
        <p:spPr>
          <a:xfrm>
            <a:off x="7035800" y="21590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Future Roadmap</a:t>
            </a:r>
            <a:endParaRPr lang="en-US" sz="1100"/>
          </a:p>
        </p:txBody>
      </p:sp>
      <p:sp>
        <p:nvSpPr>
          <p:cNvPr id="27" name="AutoShape 27"/>
          <p:cNvSpPr/>
          <p:nvPr/>
        </p:nvSpPr>
        <p:spPr>
          <a:xfrm>
            <a:off x="6477000" y="2794000"/>
            <a:ext cx="4699000" cy="558800"/>
          </a:xfrm>
          <a:prstGeom prst="roundRect">
            <a:avLst>
              <a:gd name="adj" fmla="val 18181"/>
            </a:avLst>
          </a:prstGeom>
          <a:solidFill>
            <a:srgbClr val="E5F5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4800" y="2946400"/>
            <a:ext cx="254000" cy="254000"/>
          </a:xfrm>
          <a:prstGeom prst="rect">
            <a:avLst/>
          </a:prstGeom>
        </p:spPr>
      </p:pic>
      <p:sp>
        <p:nvSpPr>
          <p:cNvPr id="29" name="AutoShape 29"/>
          <p:cNvSpPr/>
          <p:nvPr/>
        </p:nvSpPr>
        <p:spPr>
          <a:xfrm>
            <a:off x="7061200" y="29464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Implement OAuth2 / DB-stored API keys</a:t>
            </a:r>
            <a:endParaRPr lang="en-US" sz="1100"/>
          </a:p>
        </p:txBody>
      </p:sp>
      <p:sp>
        <p:nvSpPr>
          <p:cNvPr id="30" name="AutoShape 30"/>
          <p:cNvSpPr/>
          <p:nvPr/>
        </p:nvSpPr>
        <p:spPr>
          <a:xfrm>
            <a:off x="6477000" y="3479800"/>
            <a:ext cx="4699000" cy="558800"/>
          </a:xfrm>
          <a:prstGeom prst="roundRect">
            <a:avLst>
              <a:gd name="adj" fmla="val 18181"/>
            </a:avLst>
          </a:prstGeom>
          <a:solidFill>
            <a:srgbClr val="E5F5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4800" y="3632200"/>
            <a:ext cx="254000" cy="254000"/>
          </a:xfrm>
          <a:prstGeom prst="rect">
            <a:avLst/>
          </a:prstGeom>
        </p:spPr>
      </p:pic>
      <p:sp>
        <p:nvSpPr>
          <p:cNvPr id="32" name="AutoShape 32"/>
          <p:cNvSpPr/>
          <p:nvPr/>
        </p:nvSpPr>
        <p:spPr>
          <a:xfrm>
            <a:off x="7061200" y="36322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Migrate core storage to PostgreSQL</a:t>
            </a:r>
            <a:endParaRPr lang="en-US" sz="1100"/>
          </a:p>
        </p:txBody>
      </p:sp>
      <p:sp>
        <p:nvSpPr>
          <p:cNvPr id="33" name="AutoShape 33"/>
          <p:cNvSpPr/>
          <p:nvPr/>
        </p:nvSpPr>
        <p:spPr>
          <a:xfrm>
            <a:off x="6477000" y="4165600"/>
            <a:ext cx="4699000" cy="558800"/>
          </a:xfrm>
          <a:prstGeom prst="roundRect">
            <a:avLst>
              <a:gd name="adj" fmla="val 18181"/>
            </a:avLst>
          </a:prstGeom>
          <a:solidFill>
            <a:srgbClr val="E5F5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4800" y="4318000"/>
            <a:ext cx="254000" cy="254000"/>
          </a:xfrm>
          <a:prstGeom prst="rect">
            <a:avLst/>
          </a:prstGeom>
        </p:spPr>
      </p:pic>
      <p:sp>
        <p:nvSpPr>
          <p:cNvPr id="35" name="AutoShape 35"/>
          <p:cNvSpPr/>
          <p:nvPr/>
        </p:nvSpPr>
        <p:spPr>
          <a:xfrm>
            <a:off x="7061200" y="4318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Materialized views &amp; Redis caching for analytics</a:t>
            </a:r>
            <a:endParaRPr lang="en-US" sz="1100"/>
          </a:p>
        </p:txBody>
      </p:sp>
      <p:sp>
        <p:nvSpPr>
          <p:cNvPr id="36" name="AutoShape 36"/>
          <p:cNvSpPr/>
          <p:nvPr/>
        </p:nvSpPr>
        <p:spPr>
          <a:xfrm>
            <a:off x="6477000" y="4851400"/>
            <a:ext cx="4699000" cy="558800"/>
          </a:xfrm>
          <a:prstGeom prst="roundRect">
            <a:avLst>
              <a:gd name="adj" fmla="val 18181"/>
            </a:avLst>
          </a:prstGeom>
          <a:solidFill>
            <a:srgbClr val="E5F5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4800" y="5003800"/>
            <a:ext cx="254000" cy="254000"/>
          </a:xfrm>
          <a:prstGeom prst="rect">
            <a:avLst/>
          </a:prstGeom>
        </p:spPr>
      </p:pic>
      <p:sp>
        <p:nvSpPr>
          <p:cNvPr id="38" name="AutoShape 38"/>
          <p:cNvSpPr/>
          <p:nvPr/>
        </p:nvSpPr>
        <p:spPr>
          <a:xfrm>
            <a:off x="7061200" y="50038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Upgrade to Cursor-based pagination (Scalable)</a:t>
            </a:r>
            <a:endParaRPr lang="en-US" sz="1100"/>
          </a:p>
        </p:txBody>
      </p:sp>
      <p:sp>
        <p:nvSpPr>
          <p:cNvPr id="39" name="AutoShape 39"/>
          <p:cNvSpPr/>
          <p:nvPr/>
        </p:nvSpPr>
        <p:spPr>
          <a:xfrm>
            <a:off x="6477000" y="5537200"/>
            <a:ext cx="4699000" cy="558800"/>
          </a:xfrm>
          <a:prstGeom prst="roundRect">
            <a:avLst>
              <a:gd name="adj" fmla="val 18181"/>
            </a:avLst>
          </a:prstGeom>
          <a:solidFill>
            <a:srgbClr val="E5F5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4800" y="5689600"/>
            <a:ext cx="254000" cy="254000"/>
          </a:xfrm>
          <a:prstGeom prst="rect">
            <a:avLst/>
          </a:prstGeom>
        </p:spPr>
      </p:pic>
      <p:sp>
        <p:nvSpPr>
          <p:cNvPr id="41" name="AutoShape 41"/>
          <p:cNvSpPr/>
          <p:nvPr/>
        </p:nvSpPr>
        <p:spPr>
          <a:xfrm>
            <a:off x="7061200" y="56896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Add full-text search &amp; centralized metrics logging</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Generative AI as a Productivity Accelerator</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Generative AI Usage &amp; Reflection Report</a:t>
            </a:r>
            <a:endParaRPr lang="en-US" sz="1100"/>
          </a:p>
        </p:txBody>
      </p:sp>
      <p:sp>
        <p:nvSpPr>
          <p:cNvPr id="4" name="AutoShape 4"/>
          <p:cNvSpPr/>
          <p:nvPr/>
        </p:nvSpPr>
        <p:spPr>
          <a:xfrm>
            <a:off x="762000" y="1651000"/>
            <a:ext cx="4191000" cy="1524000"/>
          </a:xfrm>
          <a:prstGeom prst="roundRect">
            <a:avLst>
              <a:gd name="adj" fmla="val 10000"/>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62000" y="1651000"/>
            <a:ext cx="76200" cy="1524000"/>
          </a:xfrm>
          <a:prstGeom prst="roundRect">
            <a:avLst>
              <a:gd name="adj" fmla="val 20000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889000" cy="889000"/>
          </a:xfrm>
          <a:prstGeom prst="ellipse">
            <a:avLst/>
          </a:prstGeom>
          <a:solidFill>
            <a:srgbClr val="4A6B8A">
              <a:alpha val="1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2159000"/>
            <a:ext cx="508000" cy="508000"/>
          </a:xfrm>
          <a:prstGeom prst="rect">
            <a:avLst/>
          </a:prstGeom>
        </p:spPr>
      </p:pic>
      <p:sp>
        <p:nvSpPr>
          <p:cNvPr id="8" name="AutoShape 8"/>
          <p:cNvSpPr/>
          <p:nvPr/>
        </p:nvSpPr>
        <p:spPr>
          <a:xfrm>
            <a:off x="2095500" y="1905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Cursor: Code Crafting</a:t>
            </a:r>
            <a:endParaRPr lang="en-US" sz="1100"/>
          </a:p>
        </p:txBody>
      </p:sp>
      <p:sp>
        <p:nvSpPr>
          <p:cNvPr id="9" name="AutoShape 9"/>
          <p:cNvSpPr/>
          <p:nvPr/>
        </p:nvSpPr>
        <p:spPr>
          <a:xfrm>
            <a:off x="2095500" y="2413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Accelerated code implementation, refactoring workflows and automated test case generation.</a:t>
            </a:r>
            <a:endParaRPr lang="en-US" sz="1100"/>
          </a:p>
        </p:txBody>
      </p:sp>
      <p:sp>
        <p:nvSpPr>
          <p:cNvPr id="10" name="AutoShape 10"/>
          <p:cNvSpPr/>
          <p:nvPr/>
        </p:nvSpPr>
        <p:spPr>
          <a:xfrm>
            <a:off x="762000" y="3302000"/>
            <a:ext cx="4191000" cy="1524000"/>
          </a:xfrm>
          <a:prstGeom prst="roundRect">
            <a:avLst>
              <a:gd name="adj" fmla="val 10000"/>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762000" y="3302000"/>
            <a:ext cx="76200" cy="1524000"/>
          </a:xfrm>
          <a:prstGeom prst="roundRect">
            <a:avLst>
              <a:gd name="adj" fmla="val 20000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619500"/>
            <a:ext cx="889000" cy="889000"/>
          </a:xfrm>
          <a:prstGeom prst="ellipse">
            <a:avLst/>
          </a:prstGeom>
          <a:solidFill>
            <a:srgbClr val="4A6B8A">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810000"/>
            <a:ext cx="508000" cy="508000"/>
          </a:xfrm>
          <a:prstGeom prst="rect">
            <a:avLst/>
          </a:prstGeom>
        </p:spPr>
      </p:pic>
      <p:sp>
        <p:nvSpPr>
          <p:cNvPr id="14" name="AutoShape 14"/>
          <p:cNvSpPr/>
          <p:nvPr/>
        </p:nvSpPr>
        <p:spPr>
          <a:xfrm>
            <a:off x="2095500" y="3556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Cursor: Debugging</a:t>
            </a:r>
            <a:endParaRPr lang="en-US" sz="1100"/>
          </a:p>
        </p:txBody>
      </p:sp>
      <p:sp>
        <p:nvSpPr>
          <p:cNvPr id="15" name="AutoShape 15"/>
          <p:cNvSpPr/>
          <p:nvPr/>
        </p:nvSpPr>
        <p:spPr>
          <a:xfrm>
            <a:off x="2095500" y="4064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Provided intelligent troubleshooting guidance and helped resolve complex runtime errors.</a:t>
            </a:r>
            <a:endParaRPr lang="en-US" sz="1100"/>
          </a:p>
        </p:txBody>
      </p:sp>
      <p:sp>
        <p:nvSpPr>
          <p:cNvPr id="16" name="AutoShape 16"/>
          <p:cNvSpPr/>
          <p:nvPr/>
        </p:nvSpPr>
        <p:spPr>
          <a:xfrm>
            <a:off x="762000" y="4953000"/>
            <a:ext cx="4191000" cy="1397000"/>
          </a:xfrm>
          <a:prstGeom prst="roundRect">
            <a:avLst>
              <a:gd name="adj" fmla="val 10909"/>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762000" y="4953000"/>
            <a:ext cx="76200" cy="1397000"/>
          </a:xfrm>
          <a:prstGeom prst="roundRect">
            <a:avLst>
              <a:gd name="adj" fmla="val 200000"/>
            </a:avLst>
          </a:prstGeom>
          <a:solidFill>
            <a:srgbClr val="98DBC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207000"/>
            <a:ext cx="889000" cy="889000"/>
          </a:xfrm>
          <a:prstGeom prst="ellipse">
            <a:avLst/>
          </a:prstGeom>
          <a:solidFill>
            <a:srgbClr val="4A6B8A">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5397500"/>
            <a:ext cx="508000" cy="508000"/>
          </a:xfrm>
          <a:prstGeom prst="rect">
            <a:avLst/>
          </a:prstGeom>
        </p:spPr>
      </p:pic>
      <p:sp>
        <p:nvSpPr>
          <p:cNvPr id="20" name="AutoShape 20"/>
          <p:cNvSpPr/>
          <p:nvPr/>
        </p:nvSpPr>
        <p:spPr>
          <a:xfrm>
            <a:off x="2095500" y="5143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DeepSeek: Writing</a:t>
            </a:r>
            <a:endParaRPr lang="en-US" sz="1100"/>
          </a:p>
        </p:txBody>
      </p:sp>
      <p:sp>
        <p:nvSpPr>
          <p:cNvPr id="21" name="AutoShape 21"/>
          <p:cNvSpPr/>
          <p:nvPr/>
        </p:nvSpPr>
        <p:spPr>
          <a:xfrm>
            <a:off x="2095500" y="5651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Assisted in technical report translation and professional wording polishing.</a:t>
            </a:r>
            <a:endParaRPr lang="en-US" sz="1100"/>
          </a:p>
        </p:txBody>
      </p:sp>
      <p:sp>
        <p:nvSpPr>
          <p:cNvPr id="22" name="AutoShape 22"/>
          <p:cNvSpPr/>
          <p:nvPr/>
        </p:nvSpPr>
        <p:spPr>
          <a:xfrm>
            <a:off x="5207000" y="1651000"/>
            <a:ext cx="6223000" cy="1651000"/>
          </a:xfrm>
          <a:prstGeom prst="roundRect">
            <a:avLst>
              <a:gd name="adj" fmla="val 9230"/>
            </a:avLst>
          </a:prstGeom>
          <a:solidFill>
            <a:srgbClr val="FFFFFF">
              <a:alpha val="100000"/>
            </a:srgbClr>
          </a:solidFill>
          <a:ln w="25400" cap="flat" cmpd="sng">
            <a:noFill/>
            <a:prstDash val="solid"/>
            <a:round/>
          </a:ln>
          <a:effectLst>
            <a:outerShdw blurRad="1270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61000" y="1841500"/>
            <a:ext cx="406400" cy="406400"/>
          </a:xfrm>
          <a:prstGeom prst="rect">
            <a:avLst/>
          </a:prstGeom>
        </p:spPr>
      </p:pic>
      <p:sp>
        <p:nvSpPr>
          <p:cNvPr id="24" name="AutoShape 24"/>
          <p:cNvSpPr/>
          <p:nvPr/>
        </p:nvSpPr>
        <p:spPr>
          <a:xfrm>
            <a:off x="6096000" y="1841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Tools &amp; Efficiency Impact</a:t>
            </a:r>
            <a:endParaRPr lang="en-US" sz="1100"/>
          </a:p>
        </p:txBody>
      </p:sp>
      <p:sp>
        <p:nvSpPr>
          <p:cNvPr id="25" name="AutoShape 25"/>
          <p:cNvSpPr/>
          <p:nvPr/>
        </p:nvSpPr>
        <p:spPr>
          <a:xfrm>
            <a:off x="5461000" y="2413000"/>
            <a:ext cx="5715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AI tools acted as powerful accelerators, significantly reducing the time spent on repetitive coding and initial draft writing. They enabled faster iteration cycles and freed up cognitive load for higher-level design decisions.</a:t>
            </a:r>
            <a:endParaRPr lang="en-US" sz="1100"/>
          </a:p>
        </p:txBody>
      </p:sp>
      <p:sp>
        <p:nvSpPr>
          <p:cNvPr id="26" name="AutoShape 26"/>
          <p:cNvSpPr/>
          <p:nvPr/>
        </p:nvSpPr>
        <p:spPr>
          <a:xfrm>
            <a:off x="5207000" y="3429000"/>
            <a:ext cx="6223000" cy="1778000"/>
          </a:xfrm>
          <a:prstGeom prst="roundRect">
            <a:avLst>
              <a:gd name="adj" fmla="val 8571"/>
            </a:avLst>
          </a:prstGeom>
          <a:solidFill>
            <a:srgbClr val="FFFFFF">
              <a:alpha val="100000"/>
            </a:srgbClr>
          </a:solidFill>
          <a:ln w="25400" cap="flat" cmpd="sng">
            <a:noFill/>
            <a:prstDash val="solid"/>
            <a:round/>
          </a:ln>
          <a:effectLst>
            <a:outerShdw blurRad="1270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61000" y="3619500"/>
            <a:ext cx="406400" cy="406400"/>
          </a:xfrm>
          <a:prstGeom prst="rect">
            <a:avLst/>
          </a:prstGeom>
        </p:spPr>
      </p:pic>
      <p:sp>
        <p:nvSpPr>
          <p:cNvPr id="28" name="AutoShape 28"/>
          <p:cNvSpPr/>
          <p:nvPr/>
        </p:nvSpPr>
        <p:spPr>
          <a:xfrm>
            <a:off x="6096000" y="3619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Critical Reflection &amp; Oversight</a:t>
            </a:r>
            <a:endParaRPr lang="en-US" sz="1100"/>
          </a:p>
        </p:txBody>
      </p:sp>
      <p:sp>
        <p:nvSpPr>
          <p:cNvPr id="29" name="AutoShape 29"/>
          <p:cNvSpPr/>
          <p:nvPr/>
        </p:nvSpPr>
        <p:spPr>
          <a:xfrm>
            <a:off x="5461000" y="4191000"/>
            <a:ext cx="5715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Human oversight remains</a:t>
            </a:r>
            <a:r>
              <a:rPr lang="en-US" sz="1200" b="1" i="0" u="none" strike="noStrike">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non-negotiable</a:t>
            </a: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While AI provides fast suggestions, it requires critical analysis to verify accuracy and alignment with project standards. Blind acceptance of AI output can lead to subtle issues; verification is key.</a:t>
            </a:r>
            <a:endParaRPr lang="en-US" sz="1100"/>
          </a:p>
        </p:txBody>
      </p:sp>
      <p:sp>
        <p:nvSpPr>
          <p:cNvPr id="30" name="AutoShape 30"/>
          <p:cNvSpPr/>
          <p:nvPr/>
        </p:nvSpPr>
        <p:spPr>
          <a:xfrm>
            <a:off x="5207000" y="5334000"/>
            <a:ext cx="6223000" cy="1016000"/>
          </a:xfrm>
          <a:prstGeom prst="roundRect">
            <a:avLst>
              <a:gd name="adj" fmla="val 15000"/>
            </a:avLst>
          </a:prstGeom>
          <a:solidFill>
            <a:srgbClr val="4A6B8A">
              <a:alpha val="100000"/>
            </a:srgbClr>
          </a:solidFill>
          <a:ln w="25400" cap="flat" cmpd="sng">
            <a:noFill/>
            <a:prstDash val="solid"/>
            <a:round/>
          </a:ln>
          <a:effectLst>
            <a:outerShdw blurRad="152400" dist="50800" dir="5400000" algn="tl" rotWithShape="0">
              <a:srgbClr val="000000">
                <a:alpha val="15000"/>
              </a:srgbClr>
            </a:outerShdw>
          </a:effectLst>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461000" y="5575300"/>
            <a:ext cx="508000" cy="508000"/>
          </a:xfrm>
          <a:prstGeom prst="rect">
            <a:avLst/>
          </a:prstGeom>
        </p:spPr>
      </p:pic>
      <p:sp>
        <p:nvSpPr>
          <p:cNvPr id="32" name="AutoShape 32"/>
          <p:cNvSpPr/>
          <p:nvPr/>
        </p:nvSpPr>
        <p:spPr>
          <a:xfrm>
            <a:off x="6223000" y="54610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Key Takeaway: AI is a Productivity Enhancer, Not a Replacement.</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Used wisely with proper validation, it elevates developer capabilities.</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159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3" name="AutoShape 3"/>
          <p:cNvSpPr/>
          <p:nvPr/>
        </p:nvSpPr>
        <p:spPr>
          <a:xfrm>
            <a:off x="5588000" y="3683000"/>
            <a:ext cx="1016000" cy="76200"/>
          </a:xfrm>
          <a:prstGeom prst="roundRect">
            <a:avLst>
              <a:gd name="adj" fmla="val 50000"/>
            </a:avLst>
          </a:prstGeom>
          <a:solidFill>
            <a:srgbClr val="4A6B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4191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0" i="0" u="none" strike="noStrike" spc="200">
                <a:solidFill>
                  <a:srgbClr val="4A6B8A"/>
                </a:solidFill>
                <a:latin typeface="Noto Sans SC" panose="020B0200000000000000" charset="-122"/>
                <a:ea typeface="Noto Sans SC" panose="020B0200000000000000" charset="-122"/>
                <a:cs typeface="Noto Sans SC" panose="020B0200000000000000" charset="-122"/>
                <a:sym typeface="Noto Sans SC" panose="020B0200000000000000" charset="-122"/>
              </a:rPr>
              <a:t>QUESTIONS &amp; DISCUSSION</a:t>
            </a:r>
            <a:endParaRPr lang="en-US" sz="1100"/>
          </a:p>
        </p:txBody>
      </p:sp>
      <p:sp>
        <p:nvSpPr>
          <p:cNvPr id="5" name="AutoShape 5"/>
          <p:cNvSpPr/>
          <p:nvPr/>
        </p:nvSpPr>
        <p:spPr>
          <a:xfrm>
            <a:off x="0" y="5334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E78"/>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your attention</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40,&quot;left&quot;:60,&quot;top&quot;:140,&quot;width&quot;:840}"/>
</p:tagLst>
</file>

<file path=ppt/tags/tag2.xml><?xml version="1.0" encoding="utf-8"?>
<p:tagLst xmlns:p="http://schemas.openxmlformats.org/presentationml/2006/main">
  <p:tag name="KSO_WM_DIAGRAM_VIRTUALLY_FRAME" val="{&quot;height&quot;:340,&quot;left&quot;:60,&quot;top&quot;:140,&quot;width&quot;:840}"/>
</p:tagLst>
</file>

<file path=ppt/tags/tag3.xml><?xml version="1.0" encoding="utf-8"?>
<p:tagLst xmlns:p="http://schemas.openxmlformats.org/presentationml/2006/main">
  <p:tag name="KSO_WM_DIAGRAM_VIRTUALLY_FRAME" val="{&quot;height&quot;:340,&quot;left&quot;:60,&quot;top&quot;:140,&quot;width&quot;:840}"/>
</p:tagLst>
</file>

<file path=ppt/tags/tag4.xml><?xml version="1.0" encoding="utf-8"?>
<p:tagLst xmlns:p="http://schemas.openxmlformats.org/presentationml/2006/main">
  <p:tag name="KSO_WM_DIAGRAM_VIRTUALLY_FRAME" val="{&quot;height&quot;:340,&quot;left&quot;:60,&quot;top&quot;:140,&quot;width&quot;:840}"/>
</p:tagLst>
</file>

<file path=ppt/tags/tag5.xml><?xml version="1.0" encoding="utf-8"?>
<p:tagLst xmlns:p="http://schemas.openxmlformats.org/presentationml/2006/main">
  <p:tag name="KSO_WM_DIAGRAM_VIRTUALLY_FRAME" val="{&quot;height&quot;:340,&quot;left&quot;:60,&quot;top&quot;:140,&quot;width&quot;:840}"/>
</p:tagLst>
</file>

<file path=ppt/tags/tag6.xml><?xml version="1.0" encoding="utf-8"?>
<p:tagLst xmlns:p="http://schemas.openxmlformats.org/presentationml/2006/main">
  <p:tag name="KSO_WM_DIAGRAM_VIRTUALLY_FRAME" val="{&quot;height&quot;:340,&quot;left&quot;:60,&quot;top&quot;:140,&quot;width&quot;:840}"/>
</p:tagLst>
</file>

<file path=ppt/tags/tag7.xml><?xml version="1.0" encoding="utf-8"?>
<p:tagLst xmlns:p="http://schemas.openxmlformats.org/presentationml/2006/main">
  <p:tag name="KSO_WM_DIAGRAM_VIRTUALLY_FRAME" val="{&quot;height&quot;:340,&quot;left&quot;:60,&quot;top&quot;:140,&quot;width&quot;:840}"/>
</p:tagLst>
</file>

<file path=ppt/tags/tag8.xml><?xml version="1.0" encoding="utf-8"?>
<p:tagLst xmlns:p="http://schemas.openxmlformats.org/presentationml/2006/main">
  <p:tag name="KSO_WM_DIAGRAM_VIRTUALLY_FRAME" val="{&quot;height&quot;:340,&quot;left&quot;:60,&quot;top&quot;:140,&quot;width&quot;:840}"/>
</p:tagLst>
</file>

<file path=ppt/tags/tag9.xml><?xml version="1.0" encoding="utf-8"?>
<p:tagLst xmlns:p="http://schemas.openxmlformats.org/presentationml/2006/main">
  <p:tag name="KSO_WM_DIAGRAM_VIRTUALLY_FRAME" val="{&quot;height&quot;:340,&quot;left&quot;:60,&quot;top&quot;:140,&quot;width&quot;:840}"/>
</p:tagLst>
</file>

<file path=ppt/tags/tag10.xml><?xml version="1.0" encoding="utf-8"?>
<p:tagLst xmlns:p="http://schemas.openxmlformats.org/presentationml/2006/main">
  <p:tag name="KSO_WM_DIAGRAM_VIRTUALLY_FRAME" val="{&quot;height&quot;:340,&quot;left&quot;:60,&quot;top&quot;:140,&quot;width&quot;:840}"/>
</p:tagLst>
</file>

<file path=ppt/tags/tag11.xml><?xml version="1.0" encoding="utf-8"?>
<p:tagLst xmlns:p="http://schemas.openxmlformats.org/presentationml/2006/main">
  <p:tag name="KSO_WM_DIAGRAM_VIRTUALLY_FRAME" val="{&quot;height&quot;:340,&quot;left&quot;:60,&quot;top&quot;:140,&quot;width&quot;:840}"/>
</p:tagLst>
</file>

<file path=ppt/tags/tag12.xml><?xml version="1.0" encoding="utf-8"?>
<p:tagLst xmlns:p="http://schemas.openxmlformats.org/presentationml/2006/main">
  <p:tag name="KSO_WM_DIAGRAM_VIRTUALLY_FRAME" val="{&quot;height&quot;:340,&quot;left&quot;:60,&quot;top&quot;:140,&quot;width&quot;:840}"/>
</p:tagLst>
</file>

<file path=ppt/tags/tag13.xml><?xml version="1.0" encoding="utf-8"?>
<p:tagLst xmlns:p="http://schemas.openxmlformats.org/presentationml/2006/main">
  <p:tag name="KSO_WM_DIAGRAM_VIRTUALLY_FRAME" val="{&quot;height&quot;:340,&quot;left&quot;:60,&quot;top&quot;:140,&quot;width&quot;:840}"/>
</p:tagLst>
</file>

<file path=ppt/tags/tag14.xml><?xml version="1.0" encoding="utf-8"?>
<p:tagLst xmlns:p="http://schemas.openxmlformats.org/presentationml/2006/main">
  <p:tag name="KSO_WM_DIAGRAM_VIRTUALLY_FRAME" val="{&quot;height&quot;:340,&quot;left&quot;:60,&quot;top&quot;:140,&quot;width&quot;:840}"/>
</p:tagLst>
</file>

<file path=ppt/tags/tag15.xml><?xml version="1.0" encoding="utf-8"?>
<p:tagLst xmlns:p="http://schemas.openxmlformats.org/presentationml/2006/main">
  <p:tag name="KSO_WM_DIAGRAM_VIRTUALLY_FRAME" val="{&quot;height&quot;:340,&quot;left&quot;:60,&quot;top&quot;:140,&quot;width&quot;:840}"/>
</p:tagLst>
</file>

<file path=ppt/tags/tag16.xml><?xml version="1.0" encoding="utf-8"?>
<p:tagLst xmlns:p="http://schemas.openxmlformats.org/presentationml/2006/main">
  <p:tag name="KSO_WM_DIAGRAM_VIRTUALLY_FRAME" val="{&quot;height&quot;:340,&quot;left&quot;:60,&quot;top&quot;:140,&quot;width&quot;:840}"/>
</p:tagLst>
</file>

<file path=ppt/tags/tag17.xml><?xml version="1.0" encoding="utf-8"?>
<p:tagLst xmlns:p="http://schemas.openxmlformats.org/presentationml/2006/main">
  <p:tag name="KSO_WM_DIAGRAM_VIRTUALLY_FRAME" val="{&quot;height&quot;:340,&quot;left&quot;:60,&quot;top&quot;:140,&quot;width&quot;:840}"/>
</p:tagLst>
</file>

<file path=ppt/tags/tag18.xml><?xml version="1.0" encoding="utf-8"?>
<p:tagLst xmlns:p="http://schemas.openxmlformats.org/presentationml/2006/main">
  <p:tag name="KSO_WM_DIAGRAM_VIRTUALLY_FRAME" val="{&quot;height&quot;:340,&quot;left&quot;:60,&quot;top&quot;:140,&quot;width&quot;:840}"/>
</p:tagLst>
</file>

<file path=ppt/tags/tag19.xml><?xml version="1.0" encoding="utf-8"?>
<p:tagLst xmlns:p="http://schemas.openxmlformats.org/presentationml/2006/main">
  <p:tag name="KSO_WM_DIAGRAM_VIRTUALLY_FRAME" val="{&quot;height&quot;:340,&quot;left&quot;:60,&quot;top&quot;:140,&quot;width&quot;:840}"/>
</p:tagLst>
</file>

<file path=ppt/tags/tag20.xml><?xml version="1.0" encoding="utf-8"?>
<p:tagLst xmlns:p="http://schemas.openxmlformats.org/presentationml/2006/main">
  <p:tag name="KSO_WM_DIAGRAM_VIRTUALLY_FRAME" val="{&quot;height&quot;:340,&quot;left&quot;:60,&quot;top&quot;:140,&quot;width&quot;:840}"/>
</p:tagLst>
</file>

<file path=ppt/tags/tag21.xml><?xml version="1.0" encoding="utf-8"?>
<p:tagLst xmlns:p="http://schemas.openxmlformats.org/presentationml/2006/main">
  <p:tag name="KSO_WM_DIAGRAM_VIRTUALLY_FRAME" val="{&quot;height&quot;:340,&quot;left&quot;:60,&quot;top&quot;:140,&quot;width&quot;:840}"/>
</p:tagLst>
</file>

<file path=ppt/tags/tag22.xml><?xml version="1.0" encoding="utf-8"?>
<p:tagLst xmlns:p="http://schemas.openxmlformats.org/presentationml/2006/main">
  <p:tag name="KSO_WM_DIAGRAM_VIRTUALLY_FRAME" val="{&quot;height&quot;:340,&quot;left&quot;:60,&quot;top&quot;:140,&quot;width&quot;:840}"/>
</p:tagLst>
</file>

<file path=ppt/tags/tag23.xml><?xml version="1.0" encoding="utf-8"?>
<p:tagLst xmlns:p="http://schemas.openxmlformats.org/presentationml/2006/main">
  <p:tag name="KSO_WM_DIAGRAM_VIRTUALLY_FRAME" val="{&quot;height&quot;:340,&quot;left&quot;:60,&quot;top&quot;:140,&quot;width&quot;:840}"/>
</p:tagLst>
</file>

<file path=ppt/tags/tag24.xml><?xml version="1.0" encoding="utf-8"?>
<p:tagLst xmlns:p="http://schemas.openxmlformats.org/presentationml/2006/main">
  <p:tag name="KSO_WM_DIAGRAM_VIRTUALLY_FRAME" val="{&quot;height&quot;:340,&quot;left&quot;:60,&quot;top&quot;:140,&quot;width&quot;:840}"/>
</p:tagLst>
</file>

<file path=ppt/tags/tag25.xml><?xml version="1.0" encoding="utf-8"?>
<p:tagLst xmlns:p="http://schemas.openxmlformats.org/presentationml/2006/main">
  <p:tag name="KSO_WM_DIAGRAM_VIRTUALLY_FRAME" val="{&quot;height&quot;:340,&quot;left&quot;:60,&quot;top&quot;:140,&quot;width&quot;:840}"/>
</p:tagLst>
</file>

<file path=ppt/tags/tag26.xml><?xml version="1.0" encoding="utf-8"?>
<p:tagLst xmlns:p="http://schemas.openxmlformats.org/presentationml/2006/main">
  <p:tag name="KSO_WM_DIAGRAM_VIRTUALLY_FRAME" val="{&quot;height&quot;:340,&quot;left&quot;:60,&quot;top&quot;:140,&quot;width&quot;:840}"/>
</p:tagLst>
</file>

<file path=ppt/tags/tag27.xml><?xml version="1.0" encoding="utf-8"?>
<p:tagLst xmlns:p="http://schemas.openxmlformats.org/presentationml/2006/main">
  <p:tag name="KSO_WM_DIAGRAM_VIRTUALLY_FRAME" val="{&quot;height&quot;:340,&quot;left&quot;:60,&quot;top&quot;:140,&quot;width&quot;:840}"/>
</p:tagLst>
</file>

<file path=ppt/tags/tag28.xml><?xml version="1.0" encoding="utf-8"?>
<p:tagLst xmlns:p="http://schemas.openxmlformats.org/presentationml/2006/main">
  <p:tag name="KSO_WM_DIAGRAM_VIRTUALLY_FRAME" val="{&quot;height&quot;:340,&quot;left&quot;:60,&quot;top&quot;:140,&quot;width&quot;:840}"/>
</p:tagLst>
</file>

<file path=ppt/tags/tag29.xml><?xml version="1.0" encoding="utf-8"?>
<p:tagLst xmlns:p="http://schemas.openxmlformats.org/presentationml/2006/main">
  <p:tag name="KSO_WM_DIAGRAM_VIRTUALLY_FRAME" val="{&quot;height&quot;:340,&quot;left&quot;:60,&quot;top&quot;:140,&quot;width&quot;:840}"/>
</p:tagLst>
</file>

<file path=ppt/tags/tag30.xml><?xml version="1.0" encoding="utf-8"?>
<p:tagLst xmlns:p="http://schemas.openxmlformats.org/presentationml/2006/main">
  <p:tag name="KSO_WM_DIAGRAM_VIRTUALLY_FRAME" val="{&quot;height&quot;:340,&quot;left&quot;:60,&quot;top&quot;:140,&quot;width&quot;:840}"/>
</p:tagLst>
</file>

<file path=ppt/tags/tag31.xml><?xml version="1.0" encoding="utf-8"?>
<p:tagLst xmlns:p="http://schemas.openxmlformats.org/presentationml/2006/main">
  <p:tag name="KSO_WM_DIAGRAM_VIRTUALLY_FRAME" val="{&quot;height&quot;:340,&quot;left&quot;:59.35,&quot;top&quot;:140,&quot;width&quot;:840.65}"/>
</p:tagLst>
</file>

<file path=ppt/tags/tag32.xml><?xml version="1.0" encoding="utf-8"?>
<p:tagLst xmlns:p="http://schemas.openxmlformats.org/presentationml/2006/main">
  <p:tag name="KSO_WM_DIAGRAM_VIRTUALLY_FRAME" val="{&quot;height&quot;:340,&quot;left&quot;:59.35,&quot;top&quot;:140,&quot;width&quot;:840.65}"/>
</p:tagLst>
</file>

<file path=ppt/tags/tag33.xml><?xml version="1.0" encoding="utf-8"?>
<p:tagLst xmlns:p="http://schemas.openxmlformats.org/presentationml/2006/main">
  <p:tag name="KSO_WM_DIAGRAM_VIRTUALLY_FRAME" val="{&quot;height&quot;:340,&quot;left&quot;:59.35,&quot;top&quot;:140,&quot;width&quot;:840.65}"/>
</p:tagLst>
</file>

<file path=ppt/tags/tag34.xml><?xml version="1.0" encoding="utf-8"?>
<p:tagLst xmlns:p="http://schemas.openxmlformats.org/presentationml/2006/main">
  <p:tag name="KSO_WM_DIAGRAM_VIRTUALLY_FRAME" val="{&quot;height&quot;:340,&quot;left&quot;:59.35,&quot;top&quot;:140,&quot;width&quot;:840.65}"/>
</p:tagLst>
</file>

<file path=ppt/tags/tag35.xml><?xml version="1.0" encoding="utf-8"?>
<p:tagLst xmlns:p="http://schemas.openxmlformats.org/presentationml/2006/main">
  <p:tag name="KSO_WM_DIAGRAM_VIRTUALLY_FRAME" val="{&quot;height&quot;:340,&quot;left&quot;:59.35,&quot;top&quot;:140,&quot;width&quot;:840.65}"/>
</p:tagLst>
</file>

<file path=ppt/tags/tag36.xml><?xml version="1.0" encoding="utf-8"?>
<p:tagLst xmlns:p="http://schemas.openxmlformats.org/presentationml/2006/main">
  <p:tag name="KSO_WM_DIAGRAM_VIRTUALLY_FRAME" val="{&quot;height&quot;:340,&quot;left&quot;:59.35,&quot;top&quot;:140,&quot;width&quot;:840.65}"/>
</p:tagLst>
</file>

<file path=ppt/tags/tag37.xml><?xml version="1.0" encoding="utf-8"?>
<p:tagLst xmlns:p="http://schemas.openxmlformats.org/presentationml/2006/main">
  <p:tag name="KSO_WM_DIAGRAM_VIRTUALLY_FRAME" val="{&quot;height&quot;:340,&quot;left&quot;:59.35,&quot;top&quot;:140,&quot;width&quot;:840.65}"/>
</p:tagLst>
</file>

<file path=ppt/tags/tag38.xml><?xml version="1.0" encoding="utf-8"?>
<p:tagLst xmlns:p="http://schemas.openxmlformats.org/presentationml/2006/main">
  <p:tag name="KSO_WM_DIAGRAM_VIRTUALLY_FRAME" val="{&quot;height&quot;:340,&quot;left&quot;:59.35,&quot;top&quot;:140,&quot;width&quot;:840.65}"/>
</p:tagLst>
</file>

<file path=ppt/tags/tag39.xml><?xml version="1.0" encoding="utf-8"?>
<p:tagLst xmlns:p="http://schemas.openxmlformats.org/presentationml/2006/main">
  <p:tag name="KSO_WM_DIAGRAM_VIRTUALLY_FRAME" val="{&quot;height&quot;:340,&quot;left&quot;:59.35,&quot;top&quot;:140,&quot;width&quot;:840.65}"/>
</p:tagLst>
</file>

<file path=ppt/tags/tag40.xml><?xml version="1.0" encoding="utf-8"?>
<p:tagLst xmlns:p="http://schemas.openxmlformats.org/presentationml/2006/main">
  <p:tag name="KSO_WM_DIAGRAM_VIRTUALLY_FRAME" val="{&quot;height&quot;:340,&quot;left&quot;:59.35,&quot;top&quot;:140,&quot;width&quot;:840.65}"/>
</p:tagLst>
</file>

<file path=ppt/tags/tag41.xml><?xml version="1.0" encoding="utf-8"?>
<p:tagLst xmlns:p="http://schemas.openxmlformats.org/presentationml/2006/main">
  <p:tag name="KSO_WM_DIAGRAM_VIRTUALLY_FRAME" val="{&quot;height&quot;:340,&quot;left&quot;:59.35,&quot;top&quot;:140,&quot;width&quot;:840.65}"/>
</p:tagLst>
</file>

<file path=ppt/tags/tag42.xml><?xml version="1.0" encoding="utf-8"?>
<p:tagLst xmlns:p="http://schemas.openxmlformats.org/presentationml/2006/main">
  <p:tag name="KSO_WM_DIAGRAM_VIRTUALLY_FRAME" val="{&quot;height&quot;:340,&quot;left&quot;:59.35,&quot;top&quot;:140,&quot;width&quot;:840.65}"/>
</p:tagLst>
</file>

<file path=ppt/tags/tag43.xml><?xml version="1.0" encoding="utf-8"?>
<p:tagLst xmlns:p="http://schemas.openxmlformats.org/presentationml/2006/main">
  <p:tag name="KSO_WM_DIAGRAM_VIRTUALLY_FRAME" val="{&quot;height&quot;:340,&quot;left&quot;:59.35,&quot;top&quot;:140,&quot;width&quot;:840.65}"/>
</p:tagLst>
</file>

<file path=ppt/tags/tag44.xml><?xml version="1.0" encoding="utf-8"?>
<p:tagLst xmlns:p="http://schemas.openxmlformats.org/presentationml/2006/main">
  <p:tag name="KSO_WM_DIAGRAM_VIRTUALLY_FRAME" val="{&quot;height&quot;:340,&quot;left&quot;:59.35,&quot;top&quot;:140,&quot;width&quot;:840.65}"/>
</p:tagLst>
</file>

<file path=ppt/tags/tag45.xml><?xml version="1.0" encoding="utf-8"?>
<p:tagLst xmlns:p="http://schemas.openxmlformats.org/presentationml/2006/main">
  <p:tag name="KSO_WM_DIAGRAM_VIRTUALLY_FRAME" val="{&quot;height&quot;:340,&quot;left&quot;:59.35,&quot;top&quot;:140,&quot;width&quot;:840.65}"/>
</p:tagLst>
</file>

<file path=ppt/tags/tag46.xml><?xml version="1.0" encoding="utf-8"?>
<p:tagLst xmlns:p="http://schemas.openxmlformats.org/presentationml/2006/main">
  <p:tag name="KSO_WM_DIAGRAM_VIRTUALLY_FRAME" val="{&quot;height&quot;:340,&quot;left&quot;:59.35,&quot;top&quot;:140,&quot;width&quot;:840.65}"/>
</p:tagLst>
</file>

<file path=ppt/tags/tag47.xml><?xml version="1.0" encoding="utf-8"?>
<p:tagLst xmlns:p="http://schemas.openxmlformats.org/presentationml/2006/main">
  <p:tag name="KSO_WM_DIAGRAM_VIRTUALLY_FRAME" val="{&quot;height&quot;:340,&quot;left&quot;:59.35,&quot;top&quot;:140,&quot;width&quot;:840.65}"/>
</p:tagLst>
</file>

<file path=ppt/tags/tag48.xml><?xml version="1.0" encoding="utf-8"?>
<p:tagLst xmlns:p="http://schemas.openxmlformats.org/presentationml/2006/main">
  <p:tag name="KSO_WM_DIAGRAM_VIRTUALLY_FRAME" val="{&quot;height&quot;:340,&quot;left&quot;:59.35,&quot;top&quot;:140,&quot;width&quot;:840.65}"/>
</p:tagLst>
</file>

<file path=ppt/tags/tag49.xml><?xml version="1.0" encoding="utf-8"?>
<p:tagLst xmlns:p="http://schemas.openxmlformats.org/presentationml/2006/main">
  <p:tag name="KSO_WM_DIAGRAM_VIRTUALLY_FRAME" val="{&quot;height&quot;:340,&quot;left&quot;:59.35,&quot;top&quot;:140,&quot;width&quot;:840.65}"/>
</p:tagLst>
</file>

<file path=ppt/tags/tag50.xml><?xml version="1.0" encoding="utf-8"?>
<p:tagLst xmlns:p="http://schemas.openxmlformats.org/presentationml/2006/main">
  <p:tag name="KSO_WM_DIAGRAM_VIRTUALLY_FRAME" val="{&quot;height&quot;:340,&quot;left&quot;:59.35,&quot;top&quot;:140,&quot;width&quot;:840.65}"/>
</p:tagLst>
</file>

<file path=ppt/tags/tag51.xml><?xml version="1.0" encoding="utf-8"?>
<p:tagLst xmlns:p="http://schemas.openxmlformats.org/presentationml/2006/main">
  <p:tag name="KSO_WM_DIAGRAM_VIRTUALLY_FRAME" val="{&quot;height&quot;:340,&quot;left&quot;:59.35,&quot;top&quot;:140,&quot;width&quot;:840.65}"/>
</p:tagLst>
</file>

<file path=ppt/tags/tag52.xml><?xml version="1.0" encoding="utf-8"?>
<p:tagLst xmlns:p="http://schemas.openxmlformats.org/presentationml/2006/main">
  <p:tag name="KSO_WM_DIAGRAM_VIRTUALLY_FRAME" val="{&quot;height&quot;:340,&quot;left&quot;:60,&quot;top&quot;:140,&quot;width&quot;:846.6}"/>
</p:tagLst>
</file>

<file path=ppt/tags/tag53.xml><?xml version="1.0" encoding="utf-8"?>
<p:tagLst xmlns:p="http://schemas.openxmlformats.org/presentationml/2006/main">
  <p:tag name="KSO_WM_DIAGRAM_VIRTUALLY_FRAME" val="{&quot;height&quot;:340,&quot;left&quot;:60,&quot;top&quot;:140,&quot;width&quot;:846.6}"/>
</p:tagLst>
</file>

<file path=ppt/tags/tag54.xml><?xml version="1.0" encoding="utf-8"?>
<p:tagLst xmlns:p="http://schemas.openxmlformats.org/presentationml/2006/main">
  <p:tag name="KSO_WM_DIAGRAM_VIRTUALLY_FRAME" val="{&quot;height&quot;:340,&quot;left&quot;:60,&quot;top&quot;:140,&quot;width&quot;:846.6}"/>
</p:tagLst>
</file>

<file path=ppt/tags/tag55.xml><?xml version="1.0" encoding="utf-8"?>
<p:tagLst xmlns:p="http://schemas.openxmlformats.org/presentationml/2006/main">
  <p:tag name="KSO_WM_DIAGRAM_VIRTUALLY_FRAME" val="{&quot;height&quot;:340,&quot;left&quot;:60,&quot;top&quot;:140,&quot;width&quot;:846.6}"/>
</p:tagLst>
</file>

<file path=ppt/tags/tag56.xml><?xml version="1.0" encoding="utf-8"?>
<p:tagLst xmlns:p="http://schemas.openxmlformats.org/presentationml/2006/main">
  <p:tag name="KSO_WM_DIAGRAM_VIRTUALLY_FRAME" val="{&quot;height&quot;:340,&quot;left&quot;:60,&quot;top&quot;:140,&quot;width&quot;:846.6}"/>
</p:tagLst>
</file>

<file path=ppt/tags/tag57.xml><?xml version="1.0" encoding="utf-8"?>
<p:tagLst xmlns:p="http://schemas.openxmlformats.org/presentationml/2006/main">
  <p:tag name="KSO_WM_DIAGRAM_VIRTUALLY_FRAME" val="{&quot;height&quot;:340,&quot;left&quot;:60,&quot;top&quot;:140,&quot;width&quot;:846.6}"/>
</p:tagLst>
</file>

<file path=ppt/tags/tag58.xml><?xml version="1.0" encoding="utf-8"?>
<p:tagLst xmlns:p="http://schemas.openxmlformats.org/presentationml/2006/main">
  <p:tag name="KSO_WM_DIAGRAM_VIRTUALLY_FRAME" val="{&quot;height&quot;:340,&quot;left&quot;:60,&quot;top&quot;:140,&quot;width&quot;:846.6}"/>
</p:tagLst>
</file>

<file path=ppt/tags/tag59.xml><?xml version="1.0" encoding="utf-8"?>
<p:tagLst xmlns:p="http://schemas.openxmlformats.org/presentationml/2006/main">
  <p:tag name="KSO_WM_DIAGRAM_VIRTUALLY_FRAME" val="{&quot;height&quot;:340,&quot;left&quot;:60,&quot;top&quot;:140,&quot;width&quot;:846.6}"/>
</p:tagLst>
</file>

<file path=ppt/tags/tag60.xml><?xml version="1.0" encoding="utf-8"?>
<p:tagLst xmlns:p="http://schemas.openxmlformats.org/presentationml/2006/main">
  <p:tag name="KSO_WM_DIAGRAM_VIRTUALLY_FRAME" val="{&quot;height&quot;:340,&quot;left&quot;:60,&quot;top&quot;:140,&quot;width&quot;:846.6}"/>
</p:tagLst>
</file>

<file path=ppt/tags/tag61.xml><?xml version="1.0" encoding="utf-8"?>
<p:tagLst xmlns:p="http://schemas.openxmlformats.org/presentationml/2006/main">
  <p:tag name="KSO_WM_DIAGRAM_VIRTUALLY_FRAME" val="{&quot;height&quot;:340,&quot;left&quot;:60,&quot;top&quot;:140,&quot;width&quot;:846.6}"/>
</p:tagLst>
</file>

<file path=ppt/tags/tag62.xml><?xml version="1.0" encoding="utf-8"?>
<p:tagLst xmlns:p="http://schemas.openxmlformats.org/presentationml/2006/main">
  <p:tag name="KSO_WM_DIAGRAM_VIRTUALLY_FRAME" val="{&quot;height&quot;:340,&quot;left&quot;:60,&quot;top&quot;:140,&quot;width&quot;:846.6}"/>
</p:tagLst>
</file>

<file path=ppt/tags/tag63.xml><?xml version="1.0" encoding="utf-8"?>
<p:tagLst xmlns:p="http://schemas.openxmlformats.org/presentationml/2006/main">
  <p:tag name="KSO_WM_DIAGRAM_VIRTUALLY_FRAME" val="{&quot;height&quot;:340,&quot;left&quot;:60,&quot;top&quot;:140,&quot;width&quot;:846.6}"/>
</p:tagLst>
</file>

<file path=ppt/tags/tag64.xml><?xml version="1.0" encoding="utf-8"?>
<p:tagLst xmlns:p="http://schemas.openxmlformats.org/presentationml/2006/main">
  <p:tag name="KSO_WM_DIAGRAM_VIRTUALLY_FRAME" val="{&quot;height&quot;:340,&quot;left&quot;:60,&quot;top&quot;:140,&quot;width&quot;:846.6}"/>
</p:tagLst>
</file>

<file path=ppt/tags/tag65.xml><?xml version="1.0" encoding="utf-8"?>
<p:tagLst xmlns:p="http://schemas.openxmlformats.org/presentationml/2006/main">
  <p:tag name="KSO_WM_DIAGRAM_VIRTUALLY_FRAME" val="{&quot;height&quot;:340,&quot;left&quot;:60,&quot;top&quot;:140,&quot;width&quot;:846.6}"/>
</p:tagLst>
</file>

<file path=ppt/tags/tag66.xml><?xml version="1.0" encoding="utf-8"?>
<p:tagLst xmlns:p="http://schemas.openxmlformats.org/presentationml/2006/main">
  <p:tag name="KSO_WM_DIAGRAM_VIRTUALLY_FRAME" val="{&quot;height&quot;:340,&quot;left&quot;:60,&quot;top&quot;:140,&quot;width&quot;:846.6}"/>
</p:tagLst>
</file>

<file path=ppt/tags/tag67.xml><?xml version="1.0" encoding="utf-8"?>
<p:tagLst xmlns:p="http://schemas.openxmlformats.org/presentationml/2006/main">
  <p:tag name="KSO_WM_DIAGRAM_VIRTUALLY_FRAME" val="{&quot;height&quot;:340,&quot;left&quot;:60,&quot;top&quot;:140,&quot;width&quot;:846.6}"/>
</p:tagLst>
</file>

<file path=ppt/tags/tag68.xml><?xml version="1.0" encoding="utf-8"?>
<p:tagLst xmlns:p="http://schemas.openxmlformats.org/presentationml/2006/main">
  <p:tag name="KSO_WM_DIAGRAM_VIRTUALLY_FRAME" val="{&quot;height&quot;:340,&quot;left&quot;:60,&quot;top&quot;:140,&quot;width&quot;:846.6}"/>
</p:tagLst>
</file>

<file path=ppt/tags/tag69.xml><?xml version="1.0" encoding="utf-8"?>
<p:tagLst xmlns:p="http://schemas.openxmlformats.org/presentationml/2006/main">
  <p:tag name="KSO_WM_DIAGRAM_VIRTUALLY_FRAME" val="{&quot;height&quot;:340,&quot;left&quot;:60,&quot;top&quot;:140,&quot;width&quot;:846.6}"/>
</p:tagLst>
</file>

<file path=ppt/tags/tag70.xml><?xml version="1.0" encoding="utf-8"?>
<p:tagLst xmlns:p="http://schemas.openxmlformats.org/presentationml/2006/main">
  <p:tag name="KSO_WM_DIAGRAM_VIRTUALLY_FRAME" val="{&quot;height&quot;:340,&quot;left&quot;:60,&quot;top&quot;:140,&quot;width&quot;:846.6}"/>
</p:tagLst>
</file>

<file path=ppt/tags/tag71.xml><?xml version="1.0" encoding="utf-8"?>
<p:tagLst xmlns:p="http://schemas.openxmlformats.org/presentationml/2006/main">
  <p:tag name="KSO_WM_DIAGRAM_VIRTUALLY_FRAME" val="{&quot;height&quot;:340,&quot;left&quot;:60,&quot;top&quot;:140,&quot;width&quot;:846.6}"/>
</p:tagLst>
</file>

<file path=ppt/tags/tag72.xml><?xml version="1.0" encoding="utf-8"?>
<p:tagLst xmlns:p="http://schemas.openxmlformats.org/presentationml/2006/main">
  <p:tag name="KSO_WM_DIAGRAM_VIRTUALLY_FRAME" val="{&quot;height&quot;:340,&quot;left&quot;:60,&quot;top&quot;:140,&quot;width&quot;:840}"/>
</p:tagLst>
</file>

<file path=ppt/tags/tag73.xml><?xml version="1.0" encoding="utf-8"?>
<p:tagLst xmlns:p="http://schemas.openxmlformats.org/presentationml/2006/main">
  <p:tag name="KSO_WM_DIAGRAM_VIRTUALLY_FRAME" val="{&quot;height&quot;:340,&quot;left&quot;:60,&quot;top&quot;:140,&quot;width&quot;:840}"/>
</p:tagLst>
</file>

<file path=ppt/tags/tag74.xml><?xml version="1.0" encoding="utf-8"?>
<p:tagLst xmlns:p="http://schemas.openxmlformats.org/presentationml/2006/main">
  <p:tag name="KSO_WM_DIAGRAM_VIRTUALLY_FRAME" val="{&quot;height&quot;:340,&quot;left&quot;:60,&quot;top&quot;:140,&quot;width&quot;:840}"/>
</p:tagLst>
</file>

<file path=ppt/tags/tag75.xml><?xml version="1.0" encoding="utf-8"?>
<p:tagLst xmlns:p="http://schemas.openxmlformats.org/presentationml/2006/main">
  <p:tag name="KSO_WM_DIAGRAM_VIRTUALLY_FRAME" val="{&quot;height&quot;:340,&quot;left&quot;:60,&quot;top&quot;:140,&quot;width&quot;:840}"/>
</p:tagLst>
</file>

<file path=ppt/tags/tag76.xml><?xml version="1.0" encoding="utf-8"?>
<p:tagLst xmlns:p="http://schemas.openxmlformats.org/presentationml/2006/main">
  <p:tag name="KSO_WM_DIAGRAM_VIRTUALLY_FRAME" val="{&quot;height&quot;:340,&quot;left&quot;:60,&quot;top&quot;:140,&quot;width&quot;:840}"/>
</p:tagLst>
</file>

<file path=ppt/tags/tag77.xml><?xml version="1.0" encoding="utf-8"?>
<p:tagLst xmlns:p="http://schemas.openxmlformats.org/presentationml/2006/main">
  <p:tag name="KSO_WM_DIAGRAM_VIRTUALLY_FRAME" val="{&quot;height&quot;:340,&quot;left&quot;:60,&quot;top&quot;:140,&quot;width&quot;:840}"/>
</p:tagLst>
</file>

<file path=ppt/tags/tag78.xml><?xml version="1.0" encoding="utf-8"?>
<p:tagLst xmlns:p="http://schemas.openxmlformats.org/presentationml/2006/main">
  <p:tag name="KSO_WM_DIAGRAM_VIRTUALLY_FRAME" val="{&quot;height&quot;:340,&quot;left&quot;:60,&quot;top&quot;:140,&quot;width&quot;:840}"/>
</p:tagLst>
</file>

<file path=ppt/tags/tag79.xml><?xml version="1.0" encoding="utf-8"?>
<p:tagLst xmlns:p="http://schemas.openxmlformats.org/presentationml/2006/main">
  <p:tag name="KSO_WM_DIAGRAM_VIRTUALLY_FRAME" val="{&quot;height&quot;:340,&quot;left&quot;:60,&quot;top&quot;:140,&quot;width&quot;:840}"/>
</p:tagLst>
</file>

<file path=ppt/tags/tag80.xml><?xml version="1.0" encoding="utf-8"?>
<p:tagLst xmlns:p="http://schemas.openxmlformats.org/presentationml/2006/main">
  <p:tag name="KSO_WM_DIAGRAM_VIRTUALLY_FRAME" val="{&quot;height&quot;:340,&quot;left&quot;:60,&quot;top&quot;:140,&quot;width&quot;:840}"/>
</p:tagLst>
</file>

<file path=ppt/tags/tag81.xml><?xml version="1.0" encoding="utf-8"?>
<p:tagLst xmlns:p="http://schemas.openxmlformats.org/presentationml/2006/main">
  <p:tag name="KSO_WM_DIAGRAM_VIRTUALLY_FRAME" val="{&quot;height&quot;:340,&quot;left&quot;:60,&quot;top&quot;:140,&quot;width&quot;:840}"/>
</p:tagLst>
</file>

<file path=ppt/tags/tag82.xml><?xml version="1.0" encoding="utf-8"?>
<p:tagLst xmlns:p="http://schemas.openxmlformats.org/presentationml/2006/main">
  <p:tag name="KSO_WM_DIAGRAM_VIRTUALLY_FRAME" val="{&quot;height&quot;:340,&quot;left&quot;:60,&quot;top&quot;:140,&quot;width&quot;:840}"/>
</p:tagLst>
</file>

<file path=ppt/tags/tag83.xml><?xml version="1.0" encoding="utf-8"?>
<p:tagLst xmlns:p="http://schemas.openxmlformats.org/presentationml/2006/main">
  <p:tag name="KSO_WM_DIAGRAM_VIRTUALLY_FRAME" val="{&quot;height&quot;:340,&quot;left&quot;:60,&quot;top&quot;:140,&quot;width&quot;:840}"/>
</p:tagLst>
</file>

<file path=ppt/tags/tag84.xml><?xml version="1.0" encoding="utf-8"?>
<p:tagLst xmlns:p="http://schemas.openxmlformats.org/presentationml/2006/main">
  <p:tag name="KSO_WM_DIAGRAM_VIRTUALLY_FRAME" val="{&quot;height&quot;:340,&quot;left&quot;:60,&quot;top&quot;:140,&quot;width&quot;:840}"/>
</p:tagLst>
</file>

<file path=ppt/tags/tag85.xml><?xml version="1.0" encoding="utf-8"?>
<p:tagLst xmlns:p="http://schemas.openxmlformats.org/presentationml/2006/main">
  <p:tag name="KSO_WM_DIAGRAM_VIRTUALLY_FRAME" val="{&quot;height&quot;:340,&quot;left&quot;:60,&quot;top&quot;:140,&quot;width&quot;:840}"/>
</p:tagLst>
</file>

<file path=ppt/tags/tag86.xml><?xml version="1.0" encoding="utf-8"?>
<p:tagLst xmlns:p="http://schemas.openxmlformats.org/presentationml/2006/main">
  <p:tag name="KSO_WM_DIAGRAM_VIRTUALLY_FRAME" val="{&quot;height&quot;:340,&quot;left&quot;:60,&quot;top&quot;:140,&quot;width&quot;:840}"/>
</p:tagLst>
</file>

<file path=ppt/tags/tag87.xml><?xml version="1.0" encoding="utf-8"?>
<p:tagLst xmlns:p="http://schemas.openxmlformats.org/presentationml/2006/main">
  <p:tag name="KSO_WM_DIAGRAM_VIRTUALLY_FRAME" val="{&quot;height&quot;:340,&quot;left&quot;:60,&quot;top&quot;:140,&quot;width&quot;:840}"/>
</p:tagLst>
</file>

<file path=ppt/tags/tag88.xml><?xml version="1.0" encoding="utf-8"?>
<p:tagLst xmlns:p="http://schemas.openxmlformats.org/presentationml/2006/main">
  <p:tag name="KSO_WM_DIAGRAM_VIRTUALLY_FRAME" val="{&quot;height&quot;:270,&quot;left&quot;:60,&quot;top&quot;:150,&quot;width&quot;:840}"/>
</p:tagLst>
</file>

<file path=ppt/tags/tag89.xml><?xml version="1.0" encoding="utf-8"?>
<p:tagLst xmlns:p="http://schemas.openxmlformats.org/presentationml/2006/main">
  <p:tag name="KSO_WM_DIAGRAM_VIRTUALLY_FRAME" val="{&quot;height&quot;:270,&quot;left&quot;:60,&quot;top&quot;:150,&quot;width&quot;:840}"/>
</p:tagLst>
</file>

<file path=ppt/tags/tag90.xml><?xml version="1.0" encoding="utf-8"?>
<p:tagLst xmlns:p="http://schemas.openxmlformats.org/presentationml/2006/main">
  <p:tag name="KSO_WM_DIAGRAM_VIRTUALLY_FRAME" val="{&quot;height&quot;:270,&quot;left&quot;:60,&quot;top&quot;:150,&quot;width&quot;:840}"/>
</p:tagLst>
</file>

<file path=ppt/tags/tag91.xml><?xml version="1.0" encoding="utf-8"?>
<p:tagLst xmlns:p="http://schemas.openxmlformats.org/presentationml/2006/main">
  <p:tag name="KSO_WM_DIAGRAM_VIRTUALLY_FRAME" val="{&quot;height&quot;:270,&quot;left&quot;:60,&quot;top&quot;:150,&quot;width&quot;:840}"/>
</p:tagLst>
</file>

<file path=ppt/tags/tag92.xml><?xml version="1.0" encoding="utf-8"?>
<p:tagLst xmlns:p="http://schemas.openxmlformats.org/presentationml/2006/main">
  <p:tag name="KSO_WM_DIAGRAM_VIRTUALLY_FRAME" val="{&quot;height&quot;:270,&quot;left&quot;:60,&quot;top&quot;:150,&quot;width&quot;:840}"/>
</p:tagLst>
</file>

<file path=ppt/tags/tag93.xml><?xml version="1.0" encoding="utf-8"?>
<p:tagLst xmlns:p="http://schemas.openxmlformats.org/presentationml/2006/main">
  <p:tag name="KSO_WM_DIAGRAM_VIRTUALLY_FRAME" val="{&quot;height&quot;:270,&quot;left&quot;:60,&quot;top&quot;:150,&quot;width&quot;:840}"/>
</p:tagLst>
</file>

<file path=ppt/tags/tag94.xml><?xml version="1.0" encoding="utf-8"?>
<p:tagLst xmlns:p="http://schemas.openxmlformats.org/presentationml/2006/main">
  <p:tag name="KSO_WM_DIAGRAM_VIRTUALLY_FRAME" val="{&quot;height&quot;:270,&quot;left&quot;:60,&quot;top&quot;:150,&quot;width&quot;:840}"/>
</p:tagLst>
</file>

<file path=ppt/tags/tag95.xml><?xml version="1.0" encoding="utf-8"?>
<p:tagLst xmlns:p="http://schemas.openxmlformats.org/presentationml/2006/main">
  <p:tag name="KSO_WM_DIAGRAM_VIRTUALLY_FRAME" val="{&quot;height&quot;:270,&quot;left&quot;:60,&quot;top&quot;:150,&quot;width&quot;:840}"/>
</p:tagLst>
</file>

<file path=ppt/tags/tag96.xml><?xml version="1.0" encoding="utf-8"?>
<p:tagLst xmlns:p="http://schemas.openxmlformats.org/presentationml/2006/main">
  <p:tag name="KSO_WM_DIAGRAM_VIRTUALLY_FRAME" val="{&quot;height&quot;:270,&quot;left&quot;:60,&quot;top&quot;:150,&quot;width&quot;:840}"/>
</p:tagLst>
</file>

<file path=ppt/tags/tag97.xml><?xml version="1.0" encoding="utf-8"?>
<p:tagLst xmlns:p="http://schemas.openxmlformats.org/presentationml/2006/main">
  <p:tag name="KSO_WM_DIAGRAM_VIRTUALLY_FRAME" val="{&quot;height&quot;:270,&quot;left&quot;:60,&quot;top&quot;:150,&quot;width&quot;:840}"/>
</p:tagLst>
</file>

<file path=ppt/tags/tag98.xml><?xml version="1.0" encoding="utf-8"?>
<p:tagLst xmlns:p="http://schemas.openxmlformats.org/presentationml/2006/main">
  <p:tag name="KSO_WM_DIAGRAM_VIRTUALLY_FRAME" val="{&quot;height&quot;:270,&quot;left&quot;:60,&quot;top&quot;:150,&quot;width&quot;:840}"/>
</p:tagLst>
</file>

<file path=ppt/tags/tag99.xml><?xml version="1.0" encoding="utf-8"?>
<p:tagLst xmlns:p="http://schemas.openxmlformats.org/presentationml/2006/main">
  <p:tag name="KSO_WM_DIAGRAM_VIRTUALLY_FRAME" val="{&quot;height&quot;:270,&quot;left&quot;:60,&quot;top&quot;:150,&quot;width&quot;:840}"/>
</p:tagLst>
</file>

<file path=ppt/tags/tag100.xml><?xml version="1.0" encoding="utf-8"?>
<p:tagLst xmlns:p="http://schemas.openxmlformats.org/presentationml/2006/main">
  <p:tag name="KSO_WM_DIAGRAM_VIRTUALLY_FRAME" val="{&quot;height&quot;:270,&quot;left&quot;:60,&quot;top&quot;:150,&quot;width&quot;:840}"/>
</p:tagLst>
</file>

<file path=ppt/tags/tag101.xml><?xml version="1.0" encoding="utf-8"?>
<p:tagLst xmlns:p="http://schemas.openxmlformats.org/presentationml/2006/main">
  <p:tag name="KSO_WM_DIAGRAM_VIRTUALLY_FRAME" val="{&quot;height&quot;:270,&quot;left&quot;:60,&quot;top&quot;:150,&quot;width&quot;:840}"/>
</p:tagLst>
</file>

<file path=ppt/tags/tag102.xml><?xml version="1.0" encoding="utf-8"?>
<p:tagLst xmlns:p="http://schemas.openxmlformats.org/presentationml/2006/main">
  <p:tag name="KSO_WM_DIAGRAM_VIRTUALLY_FRAME" val="{&quot;height&quot;:270,&quot;left&quot;:60,&quot;top&quot;:150,&quot;width&quot;:840}"/>
</p:tagLst>
</file>

<file path=ppt/tags/tag103.xml><?xml version="1.0" encoding="utf-8"?>
<p:tagLst xmlns:p="http://schemas.openxmlformats.org/presentationml/2006/main">
  <p:tag name="KSO_WM_DIAGRAM_VIRTUALLY_FRAME" val="{&quot;height&quot;:270,&quot;left&quot;:60,&quot;top&quot;:150,&quot;width&quot;:840}"/>
</p:tagLst>
</file>

<file path=ppt/tags/tag104.xml><?xml version="1.0" encoding="utf-8"?>
<p:tagLst xmlns:p="http://schemas.openxmlformats.org/presentationml/2006/main">
  <p:tag name="KSO_WM_DIAGRAM_VIRTUALLY_FRAME" val="{&quot;height&quot;:270,&quot;left&quot;:60,&quot;top&quot;:150,&quot;width&quot;:840}"/>
</p:tagLst>
</file>

<file path=ppt/tags/tag105.xml><?xml version="1.0" encoding="utf-8"?>
<p:tagLst xmlns:p="http://schemas.openxmlformats.org/presentationml/2006/main">
  <p:tag name="KSO_WM_DIAGRAM_VIRTUALLY_FRAME" val="{&quot;height&quot;:270,&quot;left&quot;:60,&quot;top&quot;:150,&quot;width&quot;:840}"/>
</p:tagLst>
</file>

<file path=ppt/tags/tag106.xml><?xml version="1.0" encoding="utf-8"?>
<p:tagLst xmlns:p="http://schemas.openxmlformats.org/presentationml/2006/main">
  <p:tag name="KSO_WM_DIAGRAM_VIRTUALLY_FRAME" val="{&quot;height&quot;:340,&quot;left&quot;:60,&quot;top&quot;:140,&quot;width&quot;:840}"/>
</p:tagLst>
</file>

<file path=ppt/tags/tag107.xml><?xml version="1.0" encoding="utf-8"?>
<p:tagLst xmlns:p="http://schemas.openxmlformats.org/presentationml/2006/main">
  <p:tag name="KSO_WM_DIAGRAM_VIRTUALLY_FRAME" val="{&quot;height&quot;:340,&quot;left&quot;:60,&quot;top&quot;:140,&quot;width&quot;:840}"/>
</p:tagLst>
</file>

<file path=ppt/tags/tag108.xml><?xml version="1.0" encoding="utf-8"?>
<p:tagLst xmlns:p="http://schemas.openxmlformats.org/presentationml/2006/main">
  <p:tag name="KSO_WM_DIAGRAM_VIRTUALLY_FRAME" val="{&quot;height&quot;:340,&quot;left&quot;:60,&quot;top&quot;:140,&quot;width&quot;:840}"/>
</p:tagLst>
</file>

<file path=ppt/tags/tag109.xml><?xml version="1.0" encoding="utf-8"?>
<p:tagLst xmlns:p="http://schemas.openxmlformats.org/presentationml/2006/main">
  <p:tag name="KSO_WM_DIAGRAM_VIRTUALLY_FRAME" val="{&quot;height&quot;:340,&quot;left&quot;:60,&quot;top&quot;:140,&quot;width&quot;:840}"/>
</p:tagLst>
</file>

<file path=ppt/tags/tag110.xml><?xml version="1.0" encoding="utf-8"?>
<p:tagLst xmlns:p="http://schemas.openxmlformats.org/presentationml/2006/main">
  <p:tag name="KSO_WM_DIAGRAM_VIRTUALLY_FRAME" val="{&quot;height&quot;:340,&quot;left&quot;:60,&quot;top&quot;:140,&quot;width&quot;:840}"/>
</p:tagLst>
</file>

<file path=ppt/tags/tag111.xml><?xml version="1.0" encoding="utf-8"?>
<p:tagLst xmlns:p="http://schemas.openxmlformats.org/presentationml/2006/main">
  <p:tag name="KSO_WM_DIAGRAM_VIRTUALLY_FRAME" val="{&quot;height&quot;:340,&quot;left&quot;:60,&quot;top&quot;:140,&quot;width&quot;:840}"/>
</p:tagLst>
</file>

<file path=ppt/tags/tag112.xml><?xml version="1.0" encoding="utf-8"?>
<p:tagLst xmlns:p="http://schemas.openxmlformats.org/presentationml/2006/main">
  <p:tag name="KSO_WM_DIAGRAM_VIRTUALLY_FRAME" val="{&quot;height&quot;:340,&quot;left&quot;:60,&quot;top&quot;:140,&quot;width&quot;:840}"/>
</p:tagLst>
</file>

<file path=ppt/tags/tag113.xml><?xml version="1.0" encoding="utf-8"?>
<p:tagLst xmlns:p="http://schemas.openxmlformats.org/presentationml/2006/main">
  <p:tag name="KSO_WM_DIAGRAM_VIRTUALLY_FRAME" val="{&quot;height&quot;:340,&quot;left&quot;:60,&quot;top&quot;:140,&quot;width&quot;:840}"/>
</p:tagLst>
</file>

<file path=ppt/tags/tag114.xml><?xml version="1.0" encoding="utf-8"?>
<p:tagLst xmlns:p="http://schemas.openxmlformats.org/presentationml/2006/main">
  <p:tag name="KSO_WM_DIAGRAM_VIRTUALLY_FRAME" val="{&quot;height&quot;:340,&quot;left&quot;:60,&quot;top&quot;:140,&quot;width&quot;:840}"/>
</p:tagLst>
</file>

<file path=ppt/tags/tag115.xml><?xml version="1.0" encoding="utf-8"?>
<p:tagLst xmlns:p="http://schemas.openxmlformats.org/presentationml/2006/main">
  <p:tag name="KSO_WM_DIAGRAM_VIRTUALLY_FRAME" val="{&quot;height&quot;:340,&quot;left&quot;:60,&quot;top&quot;:140,&quot;width&quot;:840}"/>
</p:tagLst>
</file>

<file path=ppt/tags/tag116.xml><?xml version="1.0" encoding="utf-8"?>
<p:tagLst xmlns:p="http://schemas.openxmlformats.org/presentationml/2006/main">
  <p:tag name="KSO_WM_DIAGRAM_VIRTUALLY_FRAME" val="{&quot;height&quot;:340,&quot;left&quot;:60,&quot;top&quot;:140,&quot;width&quot;:840}"/>
</p:tagLst>
</file>

<file path=ppt/tags/tag117.xml><?xml version="1.0" encoding="utf-8"?>
<p:tagLst xmlns:p="http://schemas.openxmlformats.org/presentationml/2006/main">
  <p:tag name="KSO_WM_DIAGRAM_VIRTUALLY_FRAME" val="{&quot;height&quot;:340,&quot;left&quot;:60,&quot;top&quot;:14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13279</Words>
  <Application>WPS 演示</Application>
  <PresentationFormat/>
  <Paragraphs>569</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20</vt:i4>
      </vt:variant>
    </vt:vector>
  </HeadingPairs>
  <TitlesOfParts>
    <vt:vector size="30" baseType="lpstr">
      <vt:lpstr>Arial</vt:lpstr>
      <vt:lpstr>宋体</vt:lpstr>
      <vt:lpstr>Wingdings</vt:lpstr>
      <vt:lpstr>Arial</vt:lpstr>
      <vt:lpstr>Noto Sans SC</vt:lpstr>
      <vt:lpstr>微软雅黑</vt:lpstr>
      <vt:lpstr>Arial Unicode MS</vt:lpstr>
      <vt:lpstr>Wingdings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WPS_1666702817</cp:lastModifiedBy>
  <cp:revision>5</cp:revision>
  <dcterms:created xsi:type="dcterms:W3CDTF">2026-04-18T09:10:00Z</dcterms:created>
  <dcterms:modified xsi:type="dcterms:W3CDTF">2026-04-18T15:44:14Z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B1DEB026FB4A40C7B57AD5F6D541BD7D_12</vt:lpwstr>
  </property>
  <property fmtid="{D5CDD505-2E9C-101B-9397-08002B2CF9AE}" pid="3" name="KSOProductBuildVer">
    <vt:lpwstr>2052-12.1.0.25865</vt:lpwstr>
  </property>
</Properties>
</file>